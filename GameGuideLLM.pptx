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Play"/>
      <p:regular r:id="rId12"/>
      <p:bold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Play-bold.fntdata"/><Relationship Id="rId12" Type="http://schemas.openxmlformats.org/officeDocument/2006/relationships/font" Target="fonts/Pl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f6c508e180_2_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g3f6c508e180_2_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Start with the Pumpkin example. A language model can sound plausible while ignoring the player’s exact day and the crop’s growth time. GameGuideLM changes the order of operations: retrieve evidence first, let Qwen3-4B synthesize it, then verify the output. The same project also builds our own 43.55-million-parameter draft model to study speculative decoding.</a:t>
            </a:r>
            <a:endParaRPr/>
          </a:p>
        </p:txBody>
      </p:sp>
      <p:sp>
        <p:nvSpPr>
          <p:cNvPr id="61" name="Google Shape;61;g3f6c508e180_2_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6c508e180_2_6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f6c508e180_2_6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The pipeline has an offline and an online part. Offline, we ingest versioned Wiki pages, normalize bilingual aliases and game-specific schemas, then build two searchable stores: a structured SQLite catalog and a guide index. Online, the router parses the question and player state, then combines structured lookup with guide retrieval. The selector removes duplicates and keeps at most six sources and fourteen thousand evidence characters. Qwen3-4B receives only that bounded evidence. A conservative validator checks citations, URLs, hidden reasoning traces, and numeric support before the answer is accepted.</a:t>
            </a:r>
            <a:endParaRPr/>
          </a:p>
        </p:txBody>
      </p:sp>
      <p:sp>
        <p:nvSpPr>
          <p:cNvPr id="120" name="Google Shape;120;g3f6c508e180_2_6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6c508e180_2_14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f6c508e180_2_14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The model stack has one fixed target and two draft tracks. Qwen3-4B is the final generator and verifier. Qwen3-0.6B is the pretrained draft baseline. Our own model is TinyQwenDraft: a six-layer, 43.55-million-parameter decoder with RMSNorm, RoPE, grouped-query attention, SwiGLU, tied embeddings, the Qwen tokenizer space, and persistent KV caches. We trained it from Qwen3-4B teacher continuations after validator filtering. During speculative decoding, both caches are prefetched once; the draft proposes a short block, the target verifies it, and rejection causes cache rollback and correction. Exact mode checks correctness; block mode measures speed.</a:t>
            </a:r>
            <a:endParaRPr/>
          </a:p>
        </p:txBody>
      </p:sp>
      <p:sp>
        <p:nvSpPr>
          <p:cNvPr id="198" name="Google Shape;198;g3f6c508e180_2_14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6c508e180_2_20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g3f6c508e180_2_20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The quality result is positive. On 38 held-out found questions, the same Qwen3-4B checkpoint improved from 18.4 to 68.4 percent pass rate when retrieval evidence was added, and required-fact coverage rose from 20.6 to 75.9 percent. Citations were valid in every grounded output. Grounding increased prefill cost, but answers became shorter and mean generation time fell. The decoding result is intentionally negative. Exact verification preserved the target output, but the best Qwen3-0.6B configuration ran at only 0.536 times target-only speed. TinyQwenDraft was much cheaper, but 7.86 percent acceptance was too low. Correctness alone does not imply acceleration.</a:t>
            </a:r>
            <a:endParaRPr/>
          </a:p>
        </p:txBody>
      </p:sp>
      <p:sp>
        <p:nvSpPr>
          <p:cNvPr id="258" name="Google Shape;258;g3f6c508e180_2_20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f6c508e180_2_27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3f6c508e180_2_27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g3f6c508e180_2_27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ADEMIC">
  <p:cSld name="ACADEMIC">
    <p:bg>
      <p:bgPr>
        <a:solidFill>
          <a:srgbClr val="F7F9FC"/>
        </a:solidFill>
      </p:bgPr>
    </p:bg>
    <p:spTree>
      <p:nvGrpSpPr>
        <p:cNvPr id="52" name="Shape 52"/>
        <p:cNvGrpSpPr/>
        <p:nvPr/>
      </p:nvGrpSpPr>
      <p:grpSpPr>
        <a:xfrm>
          <a:off x="0" y="0"/>
          <a:ext cx="0" cy="0"/>
          <a:chOff x="0" y="0"/>
          <a:chExt cx="0" cy="0"/>
        </a:xfrm>
      </p:grpSpPr>
      <p:sp>
        <p:nvSpPr>
          <p:cNvPr id="53" name="Google Shape;53;p14"/>
          <p:cNvSpPr/>
          <p:nvPr/>
        </p:nvSpPr>
        <p:spPr>
          <a:xfrm>
            <a:off x="0" y="0"/>
            <a:ext cx="9143771" cy="68580"/>
          </a:xfrm>
          <a:prstGeom prst="rect">
            <a:avLst/>
          </a:prstGeom>
          <a:solidFill>
            <a:srgbClr val="173B68"/>
          </a:solidFill>
          <a:ln cap="flat" cmpd="sng" w="12700">
            <a:solidFill>
              <a:srgbClr val="173B6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54" name="Google Shape;54;p14"/>
          <p:cNvCxnSpPr/>
          <p:nvPr/>
        </p:nvCxnSpPr>
        <p:spPr>
          <a:xfrm>
            <a:off x="356616" y="4882896"/>
            <a:ext cx="8421624" cy="0"/>
          </a:xfrm>
          <a:prstGeom prst="straightConnector1">
            <a:avLst/>
          </a:prstGeom>
          <a:noFill/>
          <a:ln cap="flat" cmpd="sng" w="10150">
            <a:solidFill>
              <a:srgbClr val="D7DFEA"/>
            </a:solidFill>
            <a:prstDash val="solid"/>
            <a:round/>
            <a:headEnd len="sm" w="sm" type="none"/>
            <a:tailEnd len="sm" w="sm" type="none"/>
          </a:ln>
        </p:spPr>
      </p:cxnSp>
      <p:sp>
        <p:nvSpPr>
          <p:cNvPr id="55" name="Google Shape;55;p14"/>
          <p:cNvSpPr/>
          <p:nvPr/>
        </p:nvSpPr>
        <p:spPr>
          <a:xfrm>
            <a:off x="384048" y="4930902"/>
            <a:ext cx="37719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b="0" i="0" lang="en-CA" sz="600" u="none" cap="none" strike="noStrike">
                <a:solidFill>
                  <a:srgbClr val="6B7A90"/>
                </a:solidFill>
                <a:latin typeface="Arial"/>
                <a:ea typeface="Arial"/>
                <a:cs typeface="Arial"/>
                <a:sym typeface="Arial"/>
              </a:rPr>
              <a:t>GameGuideLM · ECE 1508 · Group 12</a:t>
            </a:r>
            <a:endParaRPr b="0" i="0" sz="600" u="none" cap="none" strike="noStrike">
              <a:solidFill>
                <a:schemeClr val="dk1"/>
              </a:solidFill>
              <a:latin typeface="Arial"/>
              <a:ea typeface="Arial"/>
              <a:cs typeface="Arial"/>
              <a:sym typeface="Arial"/>
            </a:endParaRPr>
          </a:p>
        </p:txBody>
      </p:sp>
      <p:sp>
        <p:nvSpPr>
          <p:cNvPr id="56" name="Google Shape;56;p14"/>
          <p:cNvSpPr txBox="1"/>
          <p:nvPr>
            <p:ph idx="12" type="sldNum"/>
          </p:nvPr>
        </p:nvSpPr>
        <p:spPr>
          <a:xfrm>
            <a:off x="8545068" y="4917186"/>
            <a:ext cx="240030" cy="109728"/>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600" u="none" cap="none" strike="noStrike">
                <a:solidFill>
                  <a:srgbClr val="6B7A90"/>
                </a:solidFill>
                <a:latin typeface="Arial"/>
                <a:ea typeface="Arial"/>
                <a:cs typeface="Arial"/>
                <a:sym typeface="Arial"/>
              </a:defRPr>
            </a:lvl1pPr>
            <a:lvl2pPr indent="0" lvl="1" marL="0" marR="0" algn="r">
              <a:spcBef>
                <a:spcPts val="0"/>
              </a:spcBef>
              <a:buNone/>
              <a:defRPr b="0" i="0" sz="600" u="none" cap="none" strike="noStrike">
                <a:solidFill>
                  <a:srgbClr val="6B7A90"/>
                </a:solidFill>
                <a:latin typeface="Arial"/>
                <a:ea typeface="Arial"/>
                <a:cs typeface="Arial"/>
                <a:sym typeface="Arial"/>
              </a:defRPr>
            </a:lvl2pPr>
            <a:lvl3pPr indent="0" lvl="2" marL="0" marR="0" algn="r">
              <a:spcBef>
                <a:spcPts val="0"/>
              </a:spcBef>
              <a:buNone/>
              <a:defRPr b="0" i="0" sz="600" u="none" cap="none" strike="noStrike">
                <a:solidFill>
                  <a:srgbClr val="6B7A90"/>
                </a:solidFill>
                <a:latin typeface="Arial"/>
                <a:ea typeface="Arial"/>
                <a:cs typeface="Arial"/>
                <a:sym typeface="Arial"/>
              </a:defRPr>
            </a:lvl3pPr>
            <a:lvl4pPr indent="0" lvl="3" marL="0" marR="0" algn="r">
              <a:spcBef>
                <a:spcPts val="0"/>
              </a:spcBef>
              <a:buNone/>
              <a:defRPr b="0" i="0" sz="600" u="none" cap="none" strike="noStrike">
                <a:solidFill>
                  <a:srgbClr val="6B7A90"/>
                </a:solidFill>
                <a:latin typeface="Arial"/>
                <a:ea typeface="Arial"/>
                <a:cs typeface="Arial"/>
                <a:sym typeface="Arial"/>
              </a:defRPr>
            </a:lvl4pPr>
            <a:lvl5pPr indent="0" lvl="4" marL="0" marR="0" algn="r">
              <a:spcBef>
                <a:spcPts val="0"/>
              </a:spcBef>
              <a:buNone/>
              <a:defRPr b="0" i="0" sz="600" u="none" cap="none" strike="noStrike">
                <a:solidFill>
                  <a:srgbClr val="6B7A90"/>
                </a:solidFill>
                <a:latin typeface="Arial"/>
                <a:ea typeface="Arial"/>
                <a:cs typeface="Arial"/>
                <a:sym typeface="Arial"/>
              </a:defRPr>
            </a:lvl5pPr>
            <a:lvl6pPr indent="0" lvl="5" marL="0" marR="0" algn="r">
              <a:spcBef>
                <a:spcPts val="0"/>
              </a:spcBef>
              <a:buNone/>
              <a:defRPr b="0" i="0" sz="600" u="none" cap="none" strike="noStrike">
                <a:solidFill>
                  <a:srgbClr val="6B7A90"/>
                </a:solidFill>
                <a:latin typeface="Arial"/>
                <a:ea typeface="Arial"/>
                <a:cs typeface="Arial"/>
                <a:sym typeface="Arial"/>
              </a:defRPr>
            </a:lvl6pPr>
            <a:lvl7pPr indent="0" lvl="6" marL="0" marR="0" algn="r">
              <a:spcBef>
                <a:spcPts val="0"/>
              </a:spcBef>
              <a:buNone/>
              <a:defRPr b="0" i="0" sz="600" u="none" cap="none" strike="noStrike">
                <a:solidFill>
                  <a:srgbClr val="6B7A90"/>
                </a:solidFill>
                <a:latin typeface="Arial"/>
                <a:ea typeface="Arial"/>
                <a:cs typeface="Arial"/>
                <a:sym typeface="Arial"/>
              </a:defRPr>
            </a:lvl7pPr>
            <a:lvl8pPr indent="0" lvl="7" marL="0" marR="0" algn="r">
              <a:spcBef>
                <a:spcPts val="0"/>
              </a:spcBef>
              <a:buNone/>
              <a:defRPr b="0" i="0" sz="600" u="none" cap="none" strike="noStrike">
                <a:solidFill>
                  <a:srgbClr val="6B7A90"/>
                </a:solidFill>
                <a:latin typeface="Arial"/>
                <a:ea typeface="Arial"/>
                <a:cs typeface="Arial"/>
                <a:sym typeface="Arial"/>
              </a:defRPr>
            </a:lvl8pPr>
            <a:lvl9pPr indent="0" lvl="8" marL="0" marR="0" algn="r">
              <a:spcBef>
                <a:spcPts val="0"/>
              </a:spcBef>
              <a:buNone/>
              <a:defRPr b="0" i="0" sz="600" u="none" cap="none" strike="noStrike">
                <a:solidFill>
                  <a:srgbClr val="6B7A9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7" name="Shape 5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545068" y="4917186"/>
            <a:ext cx="240030" cy="109728"/>
          </a:xfrm>
          <a:prstGeom prst="rect">
            <a:avLst/>
          </a:prstGeom>
          <a:noFill/>
          <a:ln>
            <a:noFill/>
          </a:ln>
        </p:spPr>
        <p:txBody>
          <a:bodyPr anchorCtr="0" anchor="t" bIns="34275" lIns="68575" spcFirstLastPara="1" rIns="68575" wrap="square" tIns="34275">
            <a:noAutofit/>
          </a:bodyPr>
          <a:lstStyle>
            <a:lvl1pPr indent="0" lvl="0" marL="0" marR="0" rtl="0" algn="r">
              <a:spcBef>
                <a:spcPts val="0"/>
              </a:spcBef>
              <a:buNone/>
              <a:defRPr b="0" i="0" sz="600" u="none" cap="none" strike="noStrike">
                <a:solidFill>
                  <a:srgbClr val="6B7A90"/>
                </a:solidFill>
                <a:latin typeface="Arial"/>
                <a:ea typeface="Arial"/>
                <a:cs typeface="Arial"/>
                <a:sym typeface="Arial"/>
              </a:defRPr>
            </a:lvl1pPr>
            <a:lvl2pPr indent="0" lvl="1" marL="0" marR="0" rtl="0" algn="r">
              <a:spcBef>
                <a:spcPts val="0"/>
              </a:spcBef>
              <a:buNone/>
              <a:defRPr b="0" i="0" sz="600" u="none" cap="none" strike="noStrike">
                <a:solidFill>
                  <a:srgbClr val="6B7A90"/>
                </a:solidFill>
                <a:latin typeface="Arial"/>
                <a:ea typeface="Arial"/>
                <a:cs typeface="Arial"/>
                <a:sym typeface="Arial"/>
              </a:defRPr>
            </a:lvl2pPr>
            <a:lvl3pPr indent="0" lvl="2" marL="0" marR="0" rtl="0" algn="r">
              <a:spcBef>
                <a:spcPts val="0"/>
              </a:spcBef>
              <a:buNone/>
              <a:defRPr b="0" i="0" sz="600" u="none" cap="none" strike="noStrike">
                <a:solidFill>
                  <a:srgbClr val="6B7A90"/>
                </a:solidFill>
                <a:latin typeface="Arial"/>
                <a:ea typeface="Arial"/>
                <a:cs typeface="Arial"/>
                <a:sym typeface="Arial"/>
              </a:defRPr>
            </a:lvl3pPr>
            <a:lvl4pPr indent="0" lvl="3" marL="0" marR="0" rtl="0" algn="r">
              <a:spcBef>
                <a:spcPts val="0"/>
              </a:spcBef>
              <a:buNone/>
              <a:defRPr b="0" i="0" sz="600" u="none" cap="none" strike="noStrike">
                <a:solidFill>
                  <a:srgbClr val="6B7A90"/>
                </a:solidFill>
                <a:latin typeface="Arial"/>
                <a:ea typeface="Arial"/>
                <a:cs typeface="Arial"/>
                <a:sym typeface="Arial"/>
              </a:defRPr>
            </a:lvl4pPr>
            <a:lvl5pPr indent="0" lvl="4" marL="0" marR="0" rtl="0" algn="r">
              <a:spcBef>
                <a:spcPts val="0"/>
              </a:spcBef>
              <a:buNone/>
              <a:defRPr b="0" i="0" sz="600" u="none" cap="none" strike="noStrike">
                <a:solidFill>
                  <a:srgbClr val="6B7A90"/>
                </a:solidFill>
                <a:latin typeface="Arial"/>
                <a:ea typeface="Arial"/>
                <a:cs typeface="Arial"/>
                <a:sym typeface="Arial"/>
              </a:defRPr>
            </a:lvl5pPr>
            <a:lvl6pPr indent="0" lvl="5" marL="0" marR="0" rtl="0" algn="r">
              <a:spcBef>
                <a:spcPts val="0"/>
              </a:spcBef>
              <a:buNone/>
              <a:defRPr b="0" i="0" sz="600" u="none" cap="none" strike="noStrike">
                <a:solidFill>
                  <a:srgbClr val="6B7A90"/>
                </a:solidFill>
                <a:latin typeface="Arial"/>
                <a:ea typeface="Arial"/>
                <a:cs typeface="Arial"/>
                <a:sym typeface="Arial"/>
              </a:defRPr>
            </a:lvl6pPr>
            <a:lvl7pPr indent="0" lvl="6" marL="0" marR="0" rtl="0" algn="r">
              <a:spcBef>
                <a:spcPts val="0"/>
              </a:spcBef>
              <a:buNone/>
              <a:defRPr b="0" i="0" sz="600" u="none" cap="none" strike="noStrike">
                <a:solidFill>
                  <a:srgbClr val="6B7A90"/>
                </a:solidFill>
                <a:latin typeface="Arial"/>
                <a:ea typeface="Arial"/>
                <a:cs typeface="Arial"/>
                <a:sym typeface="Arial"/>
              </a:defRPr>
            </a:lvl7pPr>
            <a:lvl8pPr indent="0" lvl="7" marL="0" marR="0" rtl="0" algn="r">
              <a:spcBef>
                <a:spcPts val="0"/>
              </a:spcBef>
              <a:buNone/>
              <a:defRPr b="0" i="0" sz="600" u="none" cap="none" strike="noStrike">
                <a:solidFill>
                  <a:srgbClr val="6B7A90"/>
                </a:solidFill>
                <a:latin typeface="Arial"/>
                <a:ea typeface="Arial"/>
                <a:cs typeface="Arial"/>
                <a:sym typeface="Arial"/>
              </a:defRPr>
            </a:lvl8pPr>
            <a:lvl9pPr indent="0" lvl="8" marL="0" marR="0" rtl="0" algn="r">
              <a:spcBef>
                <a:spcPts val="0"/>
              </a:spcBef>
              <a:buNone/>
              <a:defRPr b="0" i="0" sz="600" u="none" cap="none" strike="noStrike">
                <a:solidFill>
                  <a:srgbClr val="6B7A9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6"/>
          <p:cNvSpPr/>
          <p:nvPr/>
        </p:nvSpPr>
        <p:spPr>
          <a:xfrm>
            <a:off x="384048" y="192024"/>
            <a:ext cx="826389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900"/>
              <a:buFont typeface="Play"/>
              <a:buNone/>
            </a:pPr>
            <a:r>
              <a:rPr b="1" i="0" lang="en-CA" sz="1900" u="none" cap="none" strike="noStrike">
                <a:solidFill>
                  <a:srgbClr val="102A43"/>
                </a:solidFill>
                <a:latin typeface="Play"/>
                <a:ea typeface="Play"/>
                <a:cs typeface="Play"/>
                <a:sym typeface="Play"/>
              </a:rPr>
              <a:t>GameGuideLM: grounded game QA + a custom draft model</a:t>
            </a:r>
            <a:endParaRPr b="0" i="0" sz="1900" u="none" cap="none" strike="noStrike">
              <a:solidFill>
                <a:schemeClr val="dk1"/>
              </a:solidFill>
              <a:latin typeface="Arial"/>
              <a:ea typeface="Arial"/>
              <a:cs typeface="Arial"/>
              <a:sym typeface="Arial"/>
            </a:endParaRPr>
          </a:p>
        </p:txBody>
      </p:sp>
      <p:sp>
        <p:nvSpPr>
          <p:cNvPr id="64" name="Google Shape;64;p16"/>
          <p:cNvSpPr/>
          <p:nvPr/>
        </p:nvSpPr>
        <p:spPr>
          <a:xfrm>
            <a:off x="384050" y="600325"/>
            <a:ext cx="3305700" cy="3582900"/>
          </a:xfrm>
          <a:prstGeom prst="roundRect">
            <a:avLst>
              <a:gd fmla="val 2490"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 name="Google Shape;65;p16"/>
          <p:cNvSpPr/>
          <p:nvPr/>
        </p:nvSpPr>
        <p:spPr>
          <a:xfrm>
            <a:off x="560487" y="808671"/>
            <a:ext cx="2037000" cy="13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4D4D"/>
              </a:buClr>
              <a:buSzPts val="600"/>
              <a:buFont typeface="Arial"/>
              <a:buNone/>
            </a:pPr>
            <a:r>
              <a:rPr b="1" lang="en-CA" sz="900">
                <a:solidFill>
                  <a:srgbClr val="C84D4D"/>
                </a:solidFill>
              </a:rPr>
              <a:t>PROBLEM FORMULATION</a:t>
            </a:r>
            <a:endParaRPr b="0" i="0" sz="900" u="none" cap="none" strike="noStrike">
              <a:solidFill>
                <a:schemeClr val="dk1"/>
              </a:solidFill>
              <a:latin typeface="Arial"/>
              <a:ea typeface="Arial"/>
              <a:cs typeface="Arial"/>
              <a:sym typeface="Arial"/>
            </a:endParaRPr>
          </a:p>
        </p:txBody>
      </p:sp>
      <p:sp>
        <p:nvSpPr>
          <p:cNvPr id="66" name="Google Shape;66;p16"/>
          <p:cNvSpPr/>
          <p:nvPr/>
        </p:nvSpPr>
        <p:spPr>
          <a:xfrm>
            <a:off x="469250" y="1180200"/>
            <a:ext cx="3135300" cy="46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600"/>
              <a:buFont typeface="Play"/>
              <a:buNone/>
            </a:pPr>
            <a:r>
              <a:rPr b="1" i="0" lang="en-CA" sz="1500" u="none" cap="none" strike="noStrike">
                <a:solidFill>
                  <a:srgbClr val="102A43"/>
                </a:solidFill>
                <a:latin typeface="Play"/>
                <a:ea typeface="Play"/>
                <a:cs typeface="Play"/>
                <a:sym typeface="Play"/>
              </a:rPr>
              <a:t>“Can I plant a Pumpkin on Fall 15?”</a:t>
            </a:r>
            <a:endParaRPr b="0" i="0" sz="1500" u="none" cap="none" strike="noStrike">
              <a:solidFill>
                <a:schemeClr val="dk1"/>
              </a:solidFill>
              <a:latin typeface="Arial"/>
              <a:ea typeface="Arial"/>
              <a:cs typeface="Arial"/>
              <a:sym typeface="Arial"/>
            </a:endParaRPr>
          </a:p>
        </p:txBody>
      </p:sp>
      <p:sp>
        <p:nvSpPr>
          <p:cNvPr id="67" name="Google Shape;67;p16"/>
          <p:cNvSpPr/>
          <p:nvPr/>
        </p:nvSpPr>
        <p:spPr>
          <a:xfrm>
            <a:off x="560494" y="1745121"/>
            <a:ext cx="2882400" cy="780300"/>
          </a:xfrm>
          <a:prstGeom prst="roundRect">
            <a:avLst>
              <a:gd fmla="val 10476" name="adj"/>
            </a:avLst>
          </a:prstGeom>
          <a:solidFill>
            <a:srgbClr val="FDECEC"/>
          </a:solidFill>
          <a:ln cap="flat" cmpd="sng" w="12700">
            <a:solidFill>
              <a:srgbClr val="F2B8B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 name="Google Shape;68;p16"/>
          <p:cNvSpPr/>
          <p:nvPr/>
        </p:nvSpPr>
        <p:spPr>
          <a:xfrm>
            <a:off x="642048" y="1830558"/>
            <a:ext cx="617400" cy="17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4D4D"/>
              </a:buClr>
              <a:buSzPts val="700"/>
              <a:buFont typeface="Arial"/>
              <a:buNone/>
            </a:pPr>
            <a:r>
              <a:rPr b="1" i="0" lang="en-CA" sz="800" u="none" cap="none" strike="noStrike">
                <a:solidFill>
                  <a:srgbClr val="C84D4D"/>
                </a:solidFill>
                <a:latin typeface="Arial"/>
                <a:ea typeface="Arial"/>
                <a:cs typeface="Arial"/>
                <a:sym typeface="Arial"/>
              </a:rPr>
              <a:t>LLM-only:</a:t>
            </a:r>
            <a:endParaRPr b="0" i="0" sz="800" u="none" cap="none" strike="noStrike">
              <a:solidFill>
                <a:schemeClr val="dk1"/>
              </a:solidFill>
              <a:latin typeface="Arial"/>
              <a:ea typeface="Arial"/>
              <a:cs typeface="Arial"/>
              <a:sym typeface="Arial"/>
            </a:endParaRPr>
          </a:p>
        </p:txBody>
      </p:sp>
      <p:sp>
        <p:nvSpPr>
          <p:cNvPr id="69" name="Google Shape;69;p16"/>
          <p:cNvSpPr/>
          <p:nvPr/>
        </p:nvSpPr>
        <p:spPr>
          <a:xfrm>
            <a:off x="642050" y="2004878"/>
            <a:ext cx="2275200" cy="28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Arial"/>
              <a:buNone/>
            </a:pPr>
            <a:r>
              <a:rPr b="1" i="1" lang="en-CA" sz="950" u="none" cap="none" strike="noStrike">
                <a:solidFill>
                  <a:srgbClr val="102A43"/>
                </a:solidFill>
              </a:rPr>
              <a:t>“Probably </a:t>
            </a:r>
            <a:r>
              <a:rPr b="1" i="1" lang="en-CA" sz="950">
                <a:solidFill>
                  <a:srgbClr val="102A43"/>
                </a:solidFill>
              </a:rPr>
              <a:t>-</a:t>
            </a:r>
            <a:r>
              <a:rPr b="1" i="1" lang="en-CA" sz="950" u="none" cap="none" strike="noStrike">
                <a:solidFill>
                  <a:srgbClr val="102A43"/>
                </a:solidFill>
              </a:rPr>
              <a:t> there is still enough time.”</a:t>
            </a:r>
            <a:endParaRPr b="1" i="0" sz="950" u="none" cap="none" strike="noStrike">
              <a:solidFill>
                <a:srgbClr val="102A43"/>
              </a:solidFill>
            </a:endParaRPr>
          </a:p>
        </p:txBody>
      </p:sp>
      <p:sp>
        <p:nvSpPr>
          <p:cNvPr id="70" name="Google Shape;70;p16"/>
          <p:cNvSpPr/>
          <p:nvPr/>
        </p:nvSpPr>
        <p:spPr>
          <a:xfrm>
            <a:off x="678123" y="2278592"/>
            <a:ext cx="2529300" cy="14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b="0" i="0" lang="en-CA" sz="700" u="none" cap="none" strike="noStrike">
                <a:solidFill>
                  <a:srgbClr val="6B7A90"/>
                </a:solidFill>
                <a:latin typeface="Arial"/>
                <a:ea typeface="Arial"/>
                <a:cs typeface="Arial"/>
                <a:sym typeface="Arial"/>
              </a:rPr>
              <a:t>Fluent, but does not calculate the in-game deadline</a:t>
            </a:r>
            <a:endParaRPr b="0" i="0" sz="700" u="none" cap="none" strike="noStrike">
              <a:solidFill>
                <a:schemeClr val="dk1"/>
              </a:solidFill>
              <a:latin typeface="Arial"/>
              <a:ea typeface="Arial"/>
              <a:cs typeface="Arial"/>
              <a:sym typeface="Arial"/>
            </a:endParaRPr>
          </a:p>
        </p:txBody>
      </p:sp>
      <p:sp>
        <p:nvSpPr>
          <p:cNvPr id="71" name="Google Shape;71;p16"/>
          <p:cNvSpPr/>
          <p:nvPr/>
        </p:nvSpPr>
        <p:spPr>
          <a:xfrm>
            <a:off x="560494" y="2696640"/>
            <a:ext cx="2882400" cy="1055700"/>
          </a:xfrm>
          <a:prstGeom prst="roundRect">
            <a:avLst>
              <a:gd fmla="val 7746" name="adj"/>
            </a:avLst>
          </a:prstGeom>
          <a:solidFill>
            <a:srgbClr val="EAF1FF"/>
          </a:solidFill>
          <a:ln cap="flat" cmpd="sng" w="15225">
            <a:solidFill>
              <a:srgbClr val="AAC5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 name="Google Shape;72;p16"/>
          <p:cNvSpPr/>
          <p:nvPr/>
        </p:nvSpPr>
        <p:spPr>
          <a:xfrm>
            <a:off x="678123" y="2860182"/>
            <a:ext cx="793500" cy="17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FF"/>
              </a:buClr>
              <a:buSzPts val="700"/>
              <a:buFont typeface="Arial"/>
              <a:buNone/>
            </a:pPr>
            <a:r>
              <a:rPr b="1" i="0" lang="en-CA" sz="800" u="none" cap="none" strike="noStrike">
                <a:solidFill>
                  <a:srgbClr val="2F6BFF"/>
                </a:solidFill>
                <a:latin typeface="Arial"/>
                <a:ea typeface="Arial"/>
                <a:cs typeface="Arial"/>
                <a:sym typeface="Arial"/>
              </a:rPr>
              <a:t>GameGuideLM:</a:t>
            </a:r>
            <a:endParaRPr b="0" i="0" sz="800" u="none" cap="none" strike="noStrike">
              <a:solidFill>
                <a:schemeClr val="dk1"/>
              </a:solidFill>
              <a:latin typeface="Arial"/>
              <a:ea typeface="Arial"/>
              <a:cs typeface="Arial"/>
              <a:sym typeface="Arial"/>
            </a:endParaRPr>
          </a:p>
        </p:txBody>
      </p:sp>
      <p:sp>
        <p:nvSpPr>
          <p:cNvPr id="73" name="Google Shape;73;p16"/>
          <p:cNvSpPr/>
          <p:nvPr/>
        </p:nvSpPr>
        <p:spPr>
          <a:xfrm>
            <a:off x="666873" y="3062272"/>
            <a:ext cx="2551800" cy="34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900"/>
              <a:buFont typeface="Arial"/>
              <a:buNone/>
            </a:pPr>
            <a:r>
              <a:rPr b="1" i="0" lang="en-CA" sz="900" u="none" cap="none" strike="noStrike">
                <a:solidFill>
                  <a:srgbClr val="102A43"/>
                </a:solidFill>
                <a:latin typeface="Arial"/>
                <a:ea typeface="Arial"/>
                <a:cs typeface="Arial"/>
                <a:sym typeface="Arial"/>
              </a:rPr>
              <a:t>“Yes. It matures on Fall 28; day 15 is the last safe planting day.”</a:t>
            </a:r>
            <a:endParaRPr b="0" i="0" sz="900" u="none" cap="none" strike="noStrike">
              <a:solidFill>
                <a:schemeClr val="dk1"/>
              </a:solidFill>
              <a:latin typeface="Arial"/>
              <a:ea typeface="Arial"/>
              <a:cs typeface="Arial"/>
              <a:sym typeface="Arial"/>
            </a:endParaRPr>
          </a:p>
        </p:txBody>
      </p:sp>
      <p:sp>
        <p:nvSpPr>
          <p:cNvPr id="74" name="Google Shape;74;p16"/>
          <p:cNvSpPr/>
          <p:nvPr/>
        </p:nvSpPr>
        <p:spPr>
          <a:xfrm>
            <a:off x="678123" y="3427868"/>
            <a:ext cx="2529300" cy="14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lang="en-CA" sz="700">
                <a:solidFill>
                  <a:srgbClr val="6B7A90"/>
                </a:solidFill>
              </a:rPr>
              <a:t>Includes g</a:t>
            </a:r>
            <a:r>
              <a:rPr b="0" i="0" lang="en-CA" sz="700" u="none" cap="none" strike="noStrike">
                <a:solidFill>
                  <a:srgbClr val="6B7A90"/>
                </a:solidFill>
                <a:latin typeface="Arial"/>
                <a:ea typeface="Arial"/>
                <a:cs typeface="Arial"/>
                <a:sym typeface="Arial"/>
              </a:rPr>
              <a:t>rowth time + current day + season boundary</a:t>
            </a:r>
            <a:endParaRPr b="0" i="0" sz="700" u="none" cap="none" strike="noStrike">
              <a:solidFill>
                <a:schemeClr val="dk1"/>
              </a:solidFill>
              <a:latin typeface="Arial"/>
              <a:ea typeface="Arial"/>
              <a:cs typeface="Arial"/>
              <a:sym typeface="Arial"/>
            </a:endParaRPr>
          </a:p>
        </p:txBody>
      </p:sp>
      <p:sp>
        <p:nvSpPr>
          <p:cNvPr id="75" name="Google Shape;75;p16"/>
          <p:cNvSpPr/>
          <p:nvPr/>
        </p:nvSpPr>
        <p:spPr>
          <a:xfrm>
            <a:off x="3839100" y="600625"/>
            <a:ext cx="4918500" cy="3582900"/>
          </a:xfrm>
          <a:prstGeom prst="roundRect">
            <a:avLst>
              <a:gd fmla="val 2490" name="adj"/>
            </a:avLst>
          </a:prstGeom>
          <a:solidFill>
            <a:srgbClr val="F2F6FC"/>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 name="Google Shape;76;p16"/>
          <p:cNvSpPr/>
          <p:nvPr/>
        </p:nvSpPr>
        <p:spPr>
          <a:xfrm>
            <a:off x="4102618" y="812408"/>
            <a:ext cx="1443300" cy="13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FF"/>
              </a:buClr>
              <a:buSzPts val="600"/>
              <a:buFont typeface="Arial"/>
              <a:buNone/>
            </a:pPr>
            <a:r>
              <a:rPr b="1" i="0" lang="en-CA" sz="900" u="none" cap="none" strike="noStrike">
                <a:solidFill>
                  <a:srgbClr val="2F6BFF"/>
                </a:solidFill>
                <a:latin typeface="Arial"/>
                <a:ea typeface="Arial"/>
                <a:cs typeface="Arial"/>
                <a:sym typeface="Arial"/>
              </a:rPr>
              <a:t>PROJECT THESIS</a:t>
            </a:r>
            <a:endParaRPr b="0" i="0" sz="900" u="none" cap="none" strike="noStrike">
              <a:solidFill>
                <a:schemeClr val="dk1"/>
              </a:solidFill>
              <a:latin typeface="Arial"/>
              <a:ea typeface="Arial"/>
              <a:cs typeface="Arial"/>
              <a:sym typeface="Arial"/>
            </a:endParaRPr>
          </a:p>
        </p:txBody>
      </p:sp>
      <p:sp>
        <p:nvSpPr>
          <p:cNvPr id="77" name="Google Shape;77;p16"/>
          <p:cNvSpPr/>
          <p:nvPr/>
        </p:nvSpPr>
        <p:spPr>
          <a:xfrm>
            <a:off x="4112775" y="1001951"/>
            <a:ext cx="43008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600"/>
              <a:buFont typeface="Play"/>
              <a:buNone/>
            </a:pPr>
            <a:r>
              <a:rPr b="1" lang="en-CA" sz="1300">
                <a:solidFill>
                  <a:srgbClr val="102A43"/>
                </a:solidFill>
                <a:latin typeface="Play"/>
                <a:ea typeface="Play"/>
                <a:cs typeface="Play"/>
                <a:sym typeface="Play"/>
              </a:rPr>
              <a:t>Use RAG to improve Qwen3-4B answer generation; then investigate speculative decoding with Qwen3-0.6B</a:t>
            </a:r>
            <a:endParaRPr b="0" i="0" sz="1300" u="none" cap="none" strike="noStrike">
              <a:solidFill>
                <a:schemeClr val="dk1"/>
              </a:solidFill>
              <a:latin typeface="Arial"/>
              <a:ea typeface="Arial"/>
              <a:cs typeface="Arial"/>
              <a:sym typeface="Arial"/>
            </a:endParaRPr>
          </a:p>
        </p:txBody>
      </p:sp>
      <p:sp>
        <p:nvSpPr>
          <p:cNvPr id="78" name="Google Shape;78;p16"/>
          <p:cNvSpPr/>
          <p:nvPr/>
        </p:nvSpPr>
        <p:spPr>
          <a:xfrm>
            <a:off x="4107443" y="1683274"/>
            <a:ext cx="1305900" cy="703200"/>
          </a:xfrm>
          <a:prstGeom prst="roundRect">
            <a:avLst>
              <a:gd fmla="val 8333"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p16"/>
          <p:cNvSpPr/>
          <p:nvPr/>
        </p:nvSpPr>
        <p:spPr>
          <a:xfrm>
            <a:off x="4560960" y="1779898"/>
            <a:ext cx="742800" cy="19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900" u="none" cap="none" strike="noStrike">
                <a:solidFill>
                  <a:srgbClr val="102A43"/>
                </a:solidFill>
                <a:latin typeface="Play"/>
                <a:ea typeface="Play"/>
                <a:cs typeface="Play"/>
                <a:sym typeface="Play"/>
              </a:rPr>
              <a:t>Retrieve</a:t>
            </a:r>
            <a:endParaRPr b="0" i="0" sz="900" u="none" cap="none" strike="noStrike">
              <a:solidFill>
                <a:schemeClr val="dk1"/>
              </a:solidFill>
              <a:latin typeface="Arial"/>
              <a:ea typeface="Arial"/>
              <a:cs typeface="Arial"/>
              <a:sym typeface="Arial"/>
            </a:endParaRPr>
          </a:p>
        </p:txBody>
      </p:sp>
      <p:sp>
        <p:nvSpPr>
          <p:cNvPr id="80" name="Google Shape;80;p16"/>
          <p:cNvSpPr/>
          <p:nvPr/>
        </p:nvSpPr>
        <p:spPr>
          <a:xfrm>
            <a:off x="4240670" y="2005371"/>
            <a:ext cx="1039800" cy="341700"/>
          </a:xfrm>
          <a:prstGeom prst="rect">
            <a:avLst/>
          </a:prstGeom>
          <a:noFill/>
          <a:ln>
            <a:noFill/>
          </a:ln>
        </p:spPr>
        <p:txBody>
          <a:bodyPr anchorCtr="0" anchor="ctr" bIns="100" lIns="100" spcFirstLastPara="1" rIns="100" wrap="square" tIns="100">
            <a:noAutofit/>
          </a:bodyPr>
          <a:lstStyle/>
          <a:p>
            <a:pPr indent="0" lvl="0" marL="0" marR="0" rtl="0" algn="l">
              <a:spcBef>
                <a:spcPts val="0"/>
              </a:spcBef>
              <a:spcAft>
                <a:spcPts val="0"/>
              </a:spcAft>
              <a:buClr>
                <a:srgbClr val="1E293B"/>
              </a:buClr>
              <a:buSzPts val="600"/>
              <a:buFont typeface="Arial"/>
              <a:buNone/>
            </a:pPr>
            <a:r>
              <a:rPr b="0" i="0" lang="en-CA" sz="700" u="none" cap="none" strike="noStrike">
                <a:solidFill>
                  <a:srgbClr val="1E293B"/>
                </a:solidFill>
                <a:latin typeface="Arial"/>
                <a:ea typeface="Arial"/>
                <a:cs typeface="Arial"/>
                <a:sym typeface="Arial"/>
              </a:rPr>
              <a:t>Versioned facts and guide passages, conditioned on player state.</a:t>
            </a:r>
            <a:endParaRPr b="0" i="0" sz="700" u="none" cap="none" strike="noStrike">
              <a:solidFill>
                <a:schemeClr val="dk1"/>
              </a:solidFill>
              <a:latin typeface="Arial"/>
              <a:ea typeface="Arial"/>
              <a:cs typeface="Arial"/>
              <a:sym typeface="Arial"/>
            </a:endParaRPr>
          </a:p>
        </p:txBody>
      </p:sp>
      <p:sp>
        <p:nvSpPr>
          <p:cNvPr id="81" name="Google Shape;81;p16"/>
          <p:cNvSpPr/>
          <p:nvPr/>
        </p:nvSpPr>
        <p:spPr>
          <a:xfrm>
            <a:off x="5530610" y="1683274"/>
            <a:ext cx="1305900" cy="703200"/>
          </a:xfrm>
          <a:prstGeom prst="roundRect">
            <a:avLst>
              <a:gd fmla="val 8333"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6"/>
          <p:cNvSpPr/>
          <p:nvPr/>
        </p:nvSpPr>
        <p:spPr>
          <a:xfrm>
            <a:off x="5984135" y="1779898"/>
            <a:ext cx="742800" cy="19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900" u="none" cap="none" strike="noStrike">
                <a:solidFill>
                  <a:srgbClr val="102A43"/>
                </a:solidFill>
                <a:latin typeface="Play"/>
                <a:ea typeface="Play"/>
                <a:cs typeface="Play"/>
                <a:sym typeface="Play"/>
              </a:rPr>
              <a:t>Generate</a:t>
            </a:r>
            <a:endParaRPr b="0" i="0" sz="900" u="none" cap="none" strike="noStrike">
              <a:solidFill>
                <a:schemeClr val="dk1"/>
              </a:solidFill>
              <a:latin typeface="Arial"/>
              <a:ea typeface="Arial"/>
              <a:cs typeface="Arial"/>
              <a:sym typeface="Arial"/>
            </a:endParaRPr>
          </a:p>
        </p:txBody>
      </p:sp>
      <p:sp>
        <p:nvSpPr>
          <p:cNvPr id="83" name="Google Shape;83;p16"/>
          <p:cNvSpPr/>
          <p:nvPr/>
        </p:nvSpPr>
        <p:spPr>
          <a:xfrm>
            <a:off x="5663680" y="2005371"/>
            <a:ext cx="1039800" cy="341700"/>
          </a:xfrm>
          <a:prstGeom prst="rect">
            <a:avLst/>
          </a:prstGeom>
          <a:noFill/>
          <a:ln>
            <a:noFill/>
          </a:ln>
        </p:spPr>
        <p:txBody>
          <a:bodyPr anchorCtr="0" anchor="ctr" bIns="100" lIns="100" spcFirstLastPara="1" rIns="100" wrap="square" tIns="100">
            <a:noAutofit/>
          </a:bodyPr>
          <a:lstStyle/>
          <a:p>
            <a:pPr indent="0" lvl="0" marL="0" marR="0" rtl="0" algn="l">
              <a:spcBef>
                <a:spcPts val="0"/>
              </a:spcBef>
              <a:spcAft>
                <a:spcPts val="0"/>
              </a:spcAft>
              <a:buClr>
                <a:srgbClr val="1E293B"/>
              </a:buClr>
              <a:buSzPts val="600"/>
              <a:buFont typeface="Arial"/>
              <a:buNone/>
            </a:pPr>
            <a:r>
              <a:rPr b="0" i="0" lang="en-CA" sz="700" u="none" cap="none" strike="noStrike">
                <a:solidFill>
                  <a:srgbClr val="1E293B"/>
                </a:solidFill>
                <a:latin typeface="Arial"/>
                <a:ea typeface="Arial"/>
                <a:cs typeface="Arial"/>
                <a:sym typeface="Arial"/>
              </a:rPr>
              <a:t>Qwen3-4B writes from a bounded evidence package.</a:t>
            </a:r>
            <a:endParaRPr b="0" i="0" sz="700" u="none" cap="none" strike="noStrike">
              <a:solidFill>
                <a:schemeClr val="dk1"/>
              </a:solidFill>
              <a:latin typeface="Arial"/>
              <a:ea typeface="Arial"/>
              <a:cs typeface="Arial"/>
              <a:sym typeface="Arial"/>
            </a:endParaRPr>
          </a:p>
        </p:txBody>
      </p:sp>
      <p:sp>
        <p:nvSpPr>
          <p:cNvPr id="84" name="Google Shape;84;p16"/>
          <p:cNvSpPr/>
          <p:nvPr/>
        </p:nvSpPr>
        <p:spPr>
          <a:xfrm>
            <a:off x="6953775" y="1683250"/>
            <a:ext cx="1557600" cy="703200"/>
          </a:xfrm>
          <a:prstGeom prst="roundRect">
            <a:avLst>
              <a:gd fmla="val 8333"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6"/>
          <p:cNvSpPr/>
          <p:nvPr/>
        </p:nvSpPr>
        <p:spPr>
          <a:xfrm>
            <a:off x="7407309" y="1779898"/>
            <a:ext cx="742800" cy="19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900" u="none" cap="none" strike="noStrike">
                <a:solidFill>
                  <a:srgbClr val="102A43"/>
                </a:solidFill>
                <a:latin typeface="Play"/>
                <a:ea typeface="Play"/>
                <a:cs typeface="Play"/>
                <a:sym typeface="Play"/>
              </a:rPr>
              <a:t>Verify</a:t>
            </a:r>
            <a:endParaRPr b="0" i="0" sz="900" u="none" cap="none" strike="noStrike">
              <a:solidFill>
                <a:schemeClr val="dk1"/>
              </a:solidFill>
              <a:latin typeface="Arial"/>
              <a:ea typeface="Arial"/>
              <a:cs typeface="Arial"/>
              <a:sym typeface="Arial"/>
            </a:endParaRPr>
          </a:p>
        </p:txBody>
      </p:sp>
      <p:sp>
        <p:nvSpPr>
          <p:cNvPr id="86" name="Google Shape;86;p16"/>
          <p:cNvSpPr/>
          <p:nvPr/>
        </p:nvSpPr>
        <p:spPr>
          <a:xfrm>
            <a:off x="7307250" y="1986025"/>
            <a:ext cx="1204200" cy="380400"/>
          </a:xfrm>
          <a:prstGeom prst="rect">
            <a:avLst/>
          </a:prstGeom>
          <a:noFill/>
          <a:ln>
            <a:noFill/>
          </a:ln>
        </p:spPr>
        <p:txBody>
          <a:bodyPr anchorCtr="0" anchor="ctr" bIns="100" lIns="100" spcFirstLastPara="1" rIns="100" wrap="square" tIns="100">
            <a:noAutofit/>
          </a:bodyPr>
          <a:lstStyle/>
          <a:p>
            <a:pPr indent="0" lvl="0" marL="0" marR="0" rtl="0" algn="l">
              <a:spcBef>
                <a:spcPts val="0"/>
              </a:spcBef>
              <a:spcAft>
                <a:spcPts val="0"/>
              </a:spcAft>
              <a:buClr>
                <a:srgbClr val="1E293B"/>
              </a:buClr>
              <a:buSzPts val="600"/>
              <a:buFont typeface="Arial"/>
              <a:buNone/>
            </a:pPr>
            <a:r>
              <a:rPr b="0" i="0" lang="en-CA" sz="700" u="none" cap="none" strike="noStrike">
                <a:solidFill>
                  <a:srgbClr val="1E293B"/>
                </a:solidFill>
                <a:latin typeface="Arial"/>
                <a:ea typeface="Arial"/>
                <a:cs typeface="Arial"/>
                <a:sym typeface="Arial"/>
              </a:rPr>
              <a:t>Validator checks citations, numbers, and unsupported claims.</a:t>
            </a:r>
            <a:endParaRPr b="0" i="0" sz="700" u="none" cap="none" strike="noStrike">
              <a:solidFill>
                <a:schemeClr val="dk1"/>
              </a:solidFill>
              <a:latin typeface="Arial"/>
              <a:ea typeface="Arial"/>
              <a:cs typeface="Arial"/>
              <a:sym typeface="Arial"/>
            </a:endParaRPr>
          </a:p>
        </p:txBody>
      </p:sp>
      <p:sp>
        <p:nvSpPr>
          <p:cNvPr id="87" name="Google Shape;87;p16"/>
          <p:cNvSpPr/>
          <p:nvPr/>
        </p:nvSpPr>
        <p:spPr>
          <a:xfrm>
            <a:off x="4104842" y="2465020"/>
            <a:ext cx="1313700" cy="609600"/>
          </a:xfrm>
          <a:prstGeom prst="roundRect">
            <a:avLst>
              <a:gd fmla="val 14634"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 name="Google Shape;88;p16"/>
          <p:cNvSpPr/>
          <p:nvPr/>
        </p:nvSpPr>
        <p:spPr>
          <a:xfrm>
            <a:off x="4186943" y="2524556"/>
            <a:ext cx="46800" cy="460800"/>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6"/>
          <p:cNvSpPr/>
          <p:nvPr/>
        </p:nvSpPr>
        <p:spPr>
          <a:xfrm>
            <a:off x="4323805" y="2554218"/>
            <a:ext cx="1227600" cy="20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FF"/>
              </a:buClr>
              <a:buSzPts val="1400"/>
              <a:buFont typeface="Play"/>
              <a:buNone/>
            </a:pPr>
            <a:r>
              <a:rPr b="1" i="0" lang="en-CA" sz="1250" u="none" cap="none" strike="noStrike">
                <a:solidFill>
                  <a:srgbClr val="2F6BFF"/>
                </a:solidFill>
                <a:latin typeface="Play"/>
                <a:ea typeface="Play"/>
                <a:cs typeface="Play"/>
                <a:sym typeface="Play"/>
              </a:rPr>
              <a:t>18.4→68.4%</a:t>
            </a:r>
            <a:endParaRPr b="0" i="0" sz="1250" u="none" cap="none" strike="noStrike">
              <a:solidFill>
                <a:schemeClr val="dk1"/>
              </a:solidFill>
              <a:latin typeface="Arial"/>
              <a:ea typeface="Arial"/>
              <a:cs typeface="Arial"/>
              <a:sym typeface="Arial"/>
            </a:endParaRPr>
          </a:p>
        </p:txBody>
      </p:sp>
      <p:sp>
        <p:nvSpPr>
          <p:cNvPr id="90" name="Google Shape;90;p16"/>
          <p:cNvSpPr/>
          <p:nvPr/>
        </p:nvSpPr>
        <p:spPr>
          <a:xfrm>
            <a:off x="4323800" y="2799497"/>
            <a:ext cx="1016400" cy="19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lang="en-CA" sz="700">
                <a:solidFill>
                  <a:srgbClr val="6B7A90"/>
                </a:solidFill>
              </a:rPr>
              <a:t>h</a:t>
            </a:r>
            <a:r>
              <a:rPr b="0" i="0" lang="en-CA" sz="700" u="none" cap="none" strike="noStrike">
                <a:solidFill>
                  <a:srgbClr val="6B7A90"/>
                </a:solidFill>
                <a:latin typeface="Arial"/>
                <a:ea typeface="Arial"/>
                <a:cs typeface="Arial"/>
                <a:sym typeface="Arial"/>
              </a:rPr>
              <a:t>eld-out pass rate of Q</a:t>
            </a:r>
            <a:r>
              <a:rPr lang="en-CA" sz="700">
                <a:solidFill>
                  <a:srgbClr val="6B7A90"/>
                </a:solidFill>
              </a:rPr>
              <a:t>wen3-4B + RAG</a:t>
            </a:r>
            <a:endParaRPr b="0" i="0" sz="700" u="none" cap="none" strike="noStrike">
              <a:solidFill>
                <a:schemeClr val="dk1"/>
              </a:solidFill>
              <a:latin typeface="Arial"/>
              <a:ea typeface="Arial"/>
              <a:cs typeface="Arial"/>
              <a:sym typeface="Arial"/>
            </a:endParaRPr>
          </a:p>
        </p:txBody>
      </p:sp>
      <p:sp>
        <p:nvSpPr>
          <p:cNvPr id="91" name="Google Shape;91;p16"/>
          <p:cNvSpPr/>
          <p:nvPr/>
        </p:nvSpPr>
        <p:spPr>
          <a:xfrm>
            <a:off x="5559343" y="2458191"/>
            <a:ext cx="1313700" cy="609600"/>
          </a:xfrm>
          <a:prstGeom prst="roundRect">
            <a:avLst>
              <a:gd fmla="val 14634"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 name="Google Shape;92;p16"/>
          <p:cNvSpPr/>
          <p:nvPr/>
        </p:nvSpPr>
        <p:spPr>
          <a:xfrm>
            <a:off x="5641445" y="2546856"/>
            <a:ext cx="46800" cy="460800"/>
          </a:xfrm>
          <a:prstGeom prst="rect">
            <a:avLst/>
          </a:prstGeom>
          <a:solidFill>
            <a:srgbClr val="E98B2A"/>
          </a:solidFill>
          <a:ln cap="flat" cmpd="sng" w="12700">
            <a:solidFill>
              <a:srgbClr val="E98B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 name="Google Shape;93;p16"/>
          <p:cNvSpPr/>
          <p:nvPr/>
        </p:nvSpPr>
        <p:spPr>
          <a:xfrm>
            <a:off x="5774345" y="2554244"/>
            <a:ext cx="1016400" cy="20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8B2A"/>
              </a:buClr>
              <a:buSzPts val="1400"/>
              <a:buFont typeface="Play"/>
              <a:buNone/>
            </a:pPr>
            <a:r>
              <a:rPr b="1" i="0" lang="en-CA" sz="1400" u="none" cap="none" strike="noStrike">
                <a:solidFill>
                  <a:srgbClr val="E98B2A"/>
                </a:solidFill>
                <a:latin typeface="Play"/>
                <a:ea typeface="Play"/>
                <a:cs typeface="Play"/>
                <a:sym typeface="Play"/>
              </a:rPr>
              <a:t>43.55M</a:t>
            </a:r>
            <a:endParaRPr b="0" i="0" sz="1400" u="none" cap="none" strike="noStrike">
              <a:solidFill>
                <a:schemeClr val="dk1"/>
              </a:solidFill>
              <a:latin typeface="Arial"/>
              <a:ea typeface="Arial"/>
              <a:cs typeface="Arial"/>
              <a:sym typeface="Arial"/>
            </a:endParaRPr>
          </a:p>
        </p:txBody>
      </p:sp>
      <p:sp>
        <p:nvSpPr>
          <p:cNvPr id="94" name="Google Shape;94;p16"/>
          <p:cNvSpPr/>
          <p:nvPr/>
        </p:nvSpPr>
        <p:spPr>
          <a:xfrm>
            <a:off x="5746988" y="2799496"/>
            <a:ext cx="1016400" cy="19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lang="en-CA" sz="700">
                <a:solidFill>
                  <a:srgbClr val="6B7A90"/>
                </a:solidFill>
              </a:rPr>
              <a:t>parameters in our </a:t>
            </a:r>
            <a:r>
              <a:rPr b="0" i="0" lang="en-CA" sz="700" u="none" cap="none" strike="noStrike">
                <a:solidFill>
                  <a:srgbClr val="6B7A90"/>
                </a:solidFill>
                <a:latin typeface="Arial"/>
                <a:ea typeface="Arial"/>
                <a:cs typeface="Arial"/>
                <a:sym typeface="Arial"/>
              </a:rPr>
              <a:t>draft model</a:t>
            </a:r>
            <a:endParaRPr b="0" i="0" sz="700" u="none" cap="none" strike="noStrike">
              <a:solidFill>
                <a:schemeClr val="dk1"/>
              </a:solidFill>
              <a:latin typeface="Arial"/>
              <a:ea typeface="Arial"/>
              <a:cs typeface="Arial"/>
              <a:sym typeface="Arial"/>
            </a:endParaRPr>
          </a:p>
        </p:txBody>
      </p:sp>
      <p:sp>
        <p:nvSpPr>
          <p:cNvPr id="95" name="Google Shape;95;p16"/>
          <p:cNvSpPr/>
          <p:nvPr/>
        </p:nvSpPr>
        <p:spPr>
          <a:xfrm>
            <a:off x="7013851" y="2462700"/>
            <a:ext cx="1497600" cy="609600"/>
          </a:xfrm>
          <a:prstGeom prst="roundRect">
            <a:avLst>
              <a:gd fmla="val 14634"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p16"/>
          <p:cNvSpPr/>
          <p:nvPr/>
        </p:nvSpPr>
        <p:spPr>
          <a:xfrm>
            <a:off x="7091813" y="2546843"/>
            <a:ext cx="46800" cy="460800"/>
          </a:xfrm>
          <a:prstGeom prst="rect">
            <a:avLst/>
          </a:prstGeom>
          <a:solidFill>
            <a:srgbClr val="7657D5"/>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7" name="Google Shape;97;p16"/>
          <p:cNvSpPr/>
          <p:nvPr/>
        </p:nvSpPr>
        <p:spPr>
          <a:xfrm>
            <a:off x="7232794" y="2554230"/>
            <a:ext cx="1016400" cy="20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57D5"/>
              </a:buClr>
              <a:buSzPts val="1400"/>
              <a:buFont typeface="Play"/>
              <a:buNone/>
            </a:pPr>
            <a:r>
              <a:rPr b="1" i="0" lang="en-CA" sz="1400" u="none" cap="none" strike="noStrike">
                <a:solidFill>
                  <a:srgbClr val="7657D5"/>
                </a:solidFill>
                <a:latin typeface="Play"/>
                <a:ea typeface="Play"/>
                <a:cs typeface="Play"/>
                <a:sym typeface="Play"/>
              </a:rPr>
              <a:t>100%</a:t>
            </a:r>
            <a:endParaRPr b="0" i="0" sz="1400" u="none" cap="none" strike="noStrike">
              <a:solidFill>
                <a:schemeClr val="dk1"/>
              </a:solidFill>
              <a:latin typeface="Arial"/>
              <a:ea typeface="Arial"/>
              <a:cs typeface="Arial"/>
              <a:sym typeface="Arial"/>
            </a:endParaRPr>
          </a:p>
        </p:txBody>
      </p:sp>
      <p:sp>
        <p:nvSpPr>
          <p:cNvPr id="98" name="Google Shape;98;p16"/>
          <p:cNvSpPr/>
          <p:nvPr/>
        </p:nvSpPr>
        <p:spPr>
          <a:xfrm>
            <a:off x="7232800" y="2799500"/>
            <a:ext cx="1204200" cy="19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b="0" i="0" lang="en-CA" sz="700" u="none" cap="none" strike="noStrike">
                <a:solidFill>
                  <a:srgbClr val="6B7A90"/>
                </a:solidFill>
                <a:latin typeface="Arial"/>
                <a:ea typeface="Arial"/>
                <a:cs typeface="Arial"/>
                <a:sym typeface="Arial"/>
              </a:rPr>
              <a:t>target match be</a:t>
            </a:r>
            <a:r>
              <a:rPr lang="en-CA" sz="700">
                <a:solidFill>
                  <a:srgbClr val="6B7A90"/>
                </a:solidFill>
              </a:rPr>
              <a:t>tween Qwen3-4B and Qwen3-0.6B</a:t>
            </a:r>
            <a:endParaRPr b="0" i="0" sz="700" u="none" cap="none" strike="noStrike">
              <a:solidFill>
                <a:schemeClr val="dk1"/>
              </a:solidFill>
              <a:latin typeface="Arial"/>
              <a:ea typeface="Arial"/>
              <a:cs typeface="Arial"/>
              <a:sym typeface="Arial"/>
            </a:endParaRPr>
          </a:p>
        </p:txBody>
      </p:sp>
      <p:sp>
        <p:nvSpPr>
          <p:cNvPr id="99" name="Google Shape;99;p16"/>
          <p:cNvSpPr/>
          <p:nvPr/>
        </p:nvSpPr>
        <p:spPr>
          <a:xfrm>
            <a:off x="384048" y="4354830"/>
            <a:ext cx="788670" cy="233172"/>
          </a:xfrm>
          <a:prstGeom prst="roundRect">
            <a:avLst>
              <a:gd fmla="val 50000" name="adj"/>
            </a:avLst>
          </a:prstGeom>
          <a:solidFill>
            <a:srgbClr val="2F6B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 name="Google Shape;100;p16"/>
          <p:cNvSpPr/>
          <p:nvPr/>
        </p:nvSpPr>
        <p:spPr>
          <a:xfrm>
            <a:off x="384048" y="4392549"/>
            <a:ext cx="788670"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CA" sz="600" u="none" cap="none" strike="noStrike">
                <a:solidFill>
                  <a:srgbClr val="FFFFFF"/>
                </a:solidFill>
                <a:latin typeface="Arial"/>
                <a:ea typeface="Arial"/>
                <a:cs typeface="Arial"/>
                <a:sym typeface="Arial"/>
              </a:rPr>
              <a:t>RAG</a:t>
            </a:r>
            <a:endParaRPr b="0" i="0" sz="600" u="none" cap="none" strike="noStrike">
              <a:solidFill>
                <a:schemeClr val="dk1"/>
              </a:solidFill>
              <a:latin typeface="Arial"/>
              <a:ea typeface="Arial"/>
              <a:cs typeface="Arial"/>
              <a:sym typeface="Arial"/>
            </a:endParaRPr>
          </a:p>
        </p:txBody>
      </p:sp>
      <p:sp>
        <p:nvSpPr>
          <p:cNvPr id="101" name="Google Shape;101;p16"/>
          <p:cNvSpPr/>
          <p:nvPr/>
        </p:nvSpPr>
        <p:spPr>
          <a:xfrm>
            <a:off x="1248156" y="4354830"/>
            <a:ext cx="1062990" cy="233172"/>
          </a:xfrm>
          <a:prstGeom prst="roundRect">
            <a:avLst>
              <a:gd fmla="val 50000" name="adj"/>
            </a:avLst>
          </a:prstGeom>
          <a:solidFill>
            <a:srgbClr val="7657D5"/>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p16"/>
          <p:cNvSpPr/>
          <p:nvPr/>
        </p:nvSpPr>
        <p:spPr>
          <a:xfrm>
            <a:off x="1248156" y="4392549"/>
            <a:ext cx="1062990"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CA" sz="600" u="none" cap="none" strike="noStrike">
                <a:solidFill>
                  <a:srgbClr val="FFFFFF"/>
                </a:solidFill>
                <a:latin typeface="Arial"/>
                <a:ea typeface="Arial"/>
                <a:cs typeface="Arial"/>
                <a:sym typeface="Arial"/>
              </a:rPr>
              <a:t>QWEN3-4B</a:t>
            </a:r>
            <a:endParaRPr b="0" i="0" sz="600" u="none" cap="none" strike="noStrike">
              <a:solidFill>
                <a:schemeClr val="dk1"/>
              </a:solidFill>
              <a:latin typeface="Arial"/>
              <a:ea typeface="Arial"/>
              <a:cs typeface="Arial"/>
              <a:sym typeface="Arial"/>
            </a:endParaRPr>
          </a:p>
        </p:txBody>
      </p:sp>
      <p:sp>
        <p:nvSpPr>
          <p:cNvPr id="103" name="Google Shape;103;p16"/>
          <p:cNvSpPr/>
          <p:nvPr/>
        </p:nvSpPr>
        <p:spPr>
          <a:xfrm>
            <a:off x="2386584" y="4354830"/>
            <a:ext cx="1303020" cy="233172"/>
          </a:xfrm>
          <a:prstGeom prst="roundRect">
            <a:avLst>
              <a:gd fmla="val 50000" name="adj"/>
            </a:avLst>
          </a:prstGeom>
          <a:solidFill>
            <a:srgbClr val="E98B2A"/>
          </a:solidFill>
          <a:ln cap="flat" cmpd="sng" w="12700">
            <a:solidFill>
              <a:srgbClr val="E98B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16"/>
          <p:cNvSpPr/>
          <p:nvPr/>
        </p:nvSpPr>
        <p:spPr>
          <a:xfrm>
            <a:off x="2386584" y="4392549"/>
            <a:ext cx="1303020"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CA" sz="600" u="none" cap="none" strike="noStrike">
                <a:solidFill>
                  <a:srgbClr val="FFFFFF"/>
                </a:solidFill>
                <a:latin typeface="Arial"/>
                <a:ea typeface="Arial"/>
                <a:cs typeface="Arial"/>
                <a:sym typeface="Arial"/>
              </a:rPr>
              <a:t>CUSTOM DRAFT</a:t>
            </a:r>
            <a:endParaRPr b="0" i="0" sz="600" u="none" cap="none" strike="noStrike">
              <a:solidFill>
                <a:schemeClr val="dk1"/>
              </a:solidFill>
              <a:latin typeface="Arial"/>
              <a:ea typeface="Arial"/>
              <a:cs typeface="Arial"/>
              <a:sym typeface="Arial"/>
            </a:endParaRPr>
          </a:p>
        </p:txBody>
      </p:sp>
      <p:sp>
        <p:nvSpPr>
          <p:cNvPr id="105" name="Google Shape;105;p16"/>
          <p:cNvSpPr/>
          <p:nvPr/>
        </p:nvSpPr>
        <p:spPr>
          <a:xfrm>
            <a:off x="3765042" y="4354830"/>
            <a:ext cx="1474470" cy="233172"/>
          </a:xfrm>
          <a:prstGeom prst="roundRect">
            <a:avLst>
              <a:gd fmla="val 50000" name="adj"/>
            </a:avLst>
          </a:prstGeom>
          <a:solidFill>
            <a:srgbClr val="102A43"/>
          </a:solidFill>
          <a:ln cap="flat" cmpd="sng" w="12700">
            <a:solidFill>
              <a:srgbClr val="102A4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6" name="Google Shape;106;p16"/>
          <p:cNvSpPr/>
          <p:nvPr/>
        </p:nvSpPr>
        <p:spPr>
          <a:xfrm>
            <a:off x="3765042" y="4392549"/>
            <a:ext cx="1474470"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CA" sz="600" u="none" cap="none" strike="noStrike">
                <a:solidFill>
                  <a:srgbClr val="FFFFFF"/>
                </a:solidFill>
                <a:latin typeface="Arial"/>
                <a:ea typeface="Arial"/>
                <a:cs typeface="Arial"/>
                <a:sym typeface="Arial"/>
              </a:rPr>
              <a:t>SPECULATIVE DECODING</a:t>
            </a:r>
            <a:endParaRPr b="0" i="0" sz="600" u="none" cap="none" strike="noStrike">
              <a:solidFill>
                <a:schemeClr val="dk1"/>
              </a:solidFill>
              <a:latin typeface="Arial"/>
              <a:ea typeface="Arial"/>
              <a:cs typeface="Arial"/>
              <a:sym typeface="Arial"/>
            </a:endParaRPr>
          </a:p>
        </p:txBody>
      </p:sp>
      <p:sp>
        <p:nvSpPr>
          <p:cNvPr id="107" name="Google Shape;107;p16"/>
          <p:cNvSpPr/>
          <p:nvPr/>
        </p:nvSpPr>
        <p:spPr>
          <a:xfrm>
            <a:off x="5506974" y="4395978"/>
            <a:ext cx="3236976"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90"/>
              </a:buClr>
              <a:buSzPts val="600"/>
              <a:buFont typeface="Arial"/>
              <a:buNone/>
            </a:pPr>
            <a:r>
              <a:rPr b="0" i="0" lang="en-CA" sz="600" u="none" cap="none" strike="noStrike">
                <a:solidFill>
                  <a:srgbClr val="6B7A90"/>
                </a:solidFill>
                <a:latin typeface="Arial"/>
                <a:ea typeface="Arial"/>
                <a:cs typeface="Arial"/>
                <a:sym typeface="Arial"/>
              </a:rPr>
              <a:t>Jialun Chen · Maggie Ye · Tanish Upreti</a:t>
            </a:r>
            <a:endParaRPr b="0" i="0" sz="600" u="none" cap="none" strike="noStrike">
              <a:solidFill>
                <a:schemeClr val="dk1"/>
              </a:solidFill>
              <a:latin typeface="Arial"/>
              <a:ea typeface="Arial"/>
              <a:cs typeface="Arial"/>
              <a:sym typeface="Arial"/>
            </a:endParaRPr>
          </a:p>
        </p:txBody>
      </p:sp>
      <p:sp>
        <p:nvSpPr>
          <p:cNvPr id="108" name="Google Shape;108;p16"/>
          <p:cNvSpPr txBox="1"/>
          <p:nvPr>
            <p:ph idx="4294967295" type="sldNum"/>
          </p:nvPr>
        </p:nvSpPr>
        <p:spPr>
          <a:xfrm>
            <a:off x="8545068" y="4917186"/>
            <a:ext cx="240030" cy="109728"/>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CA" sz="600" u="none" cap="none" strike="noStrike">
                <a:solidFill>
                  <a:srgbClr val="6B7A90"/>
                </a:solidFill>
                <a:latin typeface="Arial"/>
                <a:ea typeface="Arial"/>
                <a:cs typeface="Arial"/>
                <a:sym typeface="Arial"/>
              </a:rPr>
              <a:t>‹#›</a:t>
            </a:fld>
            <a:endParaRPr b="0" i="0" sz="600" u="none" cap="none" strike="noStrike">
              <a:solidFill>
                <a:srgbClr val="6B7A90"/>
              </a:solidFill>
              <a:latin typeface="Arial"/>
              <a:ea typeface="Arial"/>
              <a:cs typeface="Arial"/>
              <a:sym typeface="Arial"/>
            </a:endParaRPr>
          </a:p>
        </p:txBody>
      </p:sp>
      <p:pic>
        <p:nvPicPr>
          <p:cNvPr id="109" name="Google Shape;109;p16"/>
          <p:cNvPicPr preferRelativeResize="0"/>
          <p:nvPr/>
        </p:nvPicPr>
        <p:blipFill>
          <a:blip r:embed="rId3">
            <a:alphaModFix/>
          </a:blip>
          <a:stretch>
            <a:fillRect/>
          </a:stretch>
        </p:blipFill>
        <p:spPr>
          <a:xfrm flipH="1">
            <a:off x="8285482" y="645145"/>
            <a:ext cx="413988" cy="460856"/>
          </a:xfrm>
          <a:prstGeom prst="rect">
            <a:avLst/>
          </a:prstGeom>
          <a:noFill/>
          <a:ln>
            <a:noFill/>
          </a:ln>
        </p:spPr>
      </p:pic>
      <p:sp>
        <p:nvSpPr>
          <p:cNvPr id="110" name="Google Shape;110;p16"/>
          <p:cNvSpPr/>
          <p:nvPr/>
        </p:nvSpPr>
        <p:spPr>
          <a:xfrm>
            <a:off x="4112800" y="3127800"/>
            <a:ext cx="4398600" cy="951600"/>
          </a:xfrm>
          <a:prstGeom prst="roundRect">
            <a:avLst>
              <a:gd fmla="val 8333"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lnSpc>
                <a:spcPct val="150000"/>
              </a:lnSpc>
              <a:spcBef>
                <a:spcPts val="0"/>
              </a:spcBef>
              <a:spcAft>
                <a:spcPts val="0"/>
              </a:spcAft>
              <a:buNone/>
            </a:pPr>
            <a:r>
              <a:rPr b="1" lang="en-CA" sz="900">
                <a:solidFill>
                  <a:srgbClr val="1E293B"/>
                </a:solidFill>
                <a:latin typeface="Play"/>
                <a:ea typeface="Play"/>
                <a:cs typeface="Play"/>
                <a:sym typeface="Play"/>
              </a:rPr>
              <a:t>Research Questions</a:t>
            </a:r>
            <a:endParaRPr b="1" sz="900">
              <a:solidFill>
                <a:srgbClr val="1E293B"/>
              </a:solidFill>
              <a:latin typeface="Play"/>
              <a:ea typeface="Play"/>
              <a:cs typeface="Play"/>
              <a:sym typeface="Play"/>
            </a:endParaRPr>
          </a:p>
          <a:p>
            <a:pPr indent="-146050" lvl="0" marL="269999" rtl="0" algn="l">
              <a:lnSpc>
                <a:spcPct val="115000"/>
              </a:lnSpc>
              <a:spcBef>
                <a:spcPts val="0"/>
              </a:spcBef>
              <a:spcAft>
                <a:spcPts val="0"/>
              </a:spcAft>
              <a:buClr>
                <a:srgbClr val="1E293B"/>
              </a:buClr>
              <a:buSzPts val="800"/>
              <a:buFont typeface="Play"/>
              <a:buAutoNum type="arabicPeriod"/>
            </a:pPr>
            <a:r>
              <a:rPr lang="en-CA" sz="800">
                <a:solidFill>
                  <a:srgbClr val="1E293B"/>
                </a:solidFill>
                <a:latin typeface="Play"/>
                <a:ea typeface="Play"/>
                <a:cs typeface="Play"/>
                <a:sym typeface="Play"/>
              </a:rPr>
              <a:t>Does retrieval improve held-out answer quality? </a:t>
            </a:r>
            <a:endParaRPr sz="800">
              <a:solidFill>
                <a:srgbClr val="1E293B"/>
              </a:solidFill>
              <a:latin typeface="Play"/>
              <a:ea typeface="Play"/>
              <a:cs typeface="Play"/>
              <a:sym typeface="Play"/>
            </a:endParaRPr>
          </a:p>
          <a:p>
            <a:pPr indent="-146050" lvl="0" marL="269999" rtl="0" algn="l">
              <a:lnSpc>
                <a:spcPct val="115000"/>
              </a:lnSpc>
              <a:spcBef>
                <a:spcPts val="0"/>
              </a:spcBef>
              <a:spcAft>
                <a:spcPts val="0"/>
              </a:spcAft>
              <a:buClr>
                <a:srgbClr val="1E293B"/>
              </a:buClr>
              <a:buSzPts val="800"/>
              <a:buFont typeface="Play"/>
              <a:buAutoNum type="arabicPeriod"/>
            </a:pPr>
            <a:r>
              <a:rPr lang="en-CA" sz="800">
                <a:solidFill>
                  <a:srgbClr val="1E293B"/>
                </a:solidFill>
                <a:latin typeface="Play"/>
                <a:ea typeface="Play"/>
                <a:cs typeface="Play"/>
                <a:sym typeface="Play"/>
              </a:rPr>
              <a:t>Does our speculative implementation preserve target tokens? </a:t>
            </a:r>
            <a:endParaRPr sz="800">
              <a:solidFill>
                <a:srgbClr val="1E293B"/>
              </a:solidFill>
              <a:latin typeface="Play"/>
              <a:ea typeface="Play"/>
              <a:cs typeface="Play"/>
              <a:sym typeface="Play"/>
            </a:endParaRPr>
          </a:p>
          <a:p>
            <a:pPr indent="-146050" lvl="0" marL="269999" rtl="0" algn="l">
              <a:lnSpc>
                <a:spcPct val="115000"/>
              </a:lnSpc>
              <a:spcBef>
                <a:spcPts val="0"/>
              </a:spcBef>
              <a:spcAft>
                <a:spcPts val="0"/>
              </a:spcAft>
              <a:buClr>
                <a:srgbClr val="1E293B"/>
              </a:buClr>
              <a:buSzPts val="800"/>
              <a:buFont typeface="Play"/>
              <a:buAutoNum type="arabicPeriod"/>
            </a:pPr>
            <a:r>
              <a:rPr lang="en-CA" sz="800">
                <a:solidFill>
                  <a:srgbClr val="1E293B"/>
                </a:solidFill>
                <a:latin typeface="Play"/>
                <a:ea typeface="Play"/>
                <a:cs typeface="Play"/>
                <a:sym typeface="Play"/>
              </a:rPr>
              <a:t>Does a Qwen3-0.6B draft accelerate Qwen3-4B? </a:t>
            </a:r>
            <a:endParaRPr sz="800">
              <a:solidFill>
                <a:srgbClr val="1E293B"/>
              </a:solidFill>
              <a:latin typeface="Play"/>
              <a:ea typeface="Play"/>
              <a:cs typeface="Play"/>
              <a:sym typeface="Play"/>
            </a:endParaRPr>
          </a:p>
          <a:p>
            <a:pPr indent="-146050" lvl="0" marL="269999" rtl="0" algn="l">
              <a:lnSpc>
                <a:spcPct val="115000"/>
              </a:lnSpc>
              <a:spcBef>
                <a:spcPts val="0"/>
              </a:spcBef>
              <a:spcAft>
                <a:spcPts val="0"/>
              </a:spcAft>
              <a:buClr>
                <a:srgbClr val="1E293B"/>
              </a:buClr>
              <a:buSzPts val="800"/>
              <a:buFont typeface="Play"/>
              <a:buAutoNum type="arabicPeriod"/>
            </a:pPr>
            <a:r>
              <a:rPr lang="en-CA" sz="800">
                <a:solidFill>
                  <a:srgbClr val="1E293B"/>
                </a:solidFill>
                <a:latin typeface="Play"/>
                <a:ea typeface="Play"/>
                <a:cs typeface="Play"/>
                <a:sym typeface="Play"/>
              </a:rPr>
              <a:t>Can a much smaller target-aligned draft improve the draft-cost/acceptance tradeoff?</a:t>
            </a:r>
            <a:endParaRPr sz="800">
              <a:solidFill>
                <a:srgbClr val="1E293B"/>
              </a:solidFill>
              <a:latin typeface="Play"/>
              <a:ea typeface="Play"/>
              <a:cs typeface="Play"/>
              <a:sym typeface="Play"/>
            </a:endParaRPr>
          </a:p>
        </p:txBody>
      </p:sp>
      <p:pic>
        <p:nvPicPr>
          <p:cNvPr id="111" name="Google Shape;111;p16"/>
          <p:cNvPicPr preferRelativeResize="0"/>
          <p:nvPr/>
        </p:nvPicPr>
        <p:blipFill>
          <a:blip r:embed="rId4">
            <a:alphaModFix/>
          </a:blip>
          <a:stretch>
            <a:fillRect/>
          </a:stretch>
        </p:blipFill>
        <p:spPr>
          <a:xfrm>
            <a:off x="3153361" y="649119"/>
            <a:ext cx="393400" cy="460056"/>
          </a:xfrm>
          <a:prstGeom prst="rect">
            <a:avLst/>
          </a:prstGeom>
          <a:noFill/>
          <a:ln>
            <a:noFill/>
          </a:ln>
        </p:spPr>
      </p:pic>
      <p:pic>
        <p:nvPicPr>
          <p:cNvPr id="112" name="Google Shape;112;p16"/>
          <p:cNvPicPr preferRelativeResize="0"/>
          <p:nvPr/>
        </p:nvPicPr>
        <p:blipFill>
          <a:blip r:embed="rId5">
            <a:alphaModFix/>
          </a:blip>
          <a:stretch>
            <a:fillRect/>
          </a:stretch>
        </p:blipFill>
        <p:spPr>
          <a:xfrm>
            <a:off x="5601086" y="1732901"/>
            <a:ext cx="306551" cy="286854"/>
          </a:xfrm>
          <a:prstGeom prst="rect">
            <a:avLst/>
          </a:prstGeom>
          <a:noFill/>
          <a:ln>
            <a:noFill/>
          </a:ln>
        </p:spPr>
      </p:pic>
      <p:sp>
        <p:nvSpPr>
          <p:cNvPr id="113" name="Google Shape;113;p16"/>
          <p:cNvSpPr/>
          <p:nvPr/>
        </p:nvSpPr>
        <p:spPr>
          <a:xfrm>
            <a:off x="4201417" y="1757371"/>
            <a:ext cx="306600" cy="237900"/>
          </a:xfrm>
          <a:prstGeom prst="rightArrow">
            <a:avLst>
              <a:gd fmla="val 50000" name="adj1"/>
              <a:gd fmla="val 50000" name="adj2"/>
            </a:avLst>
          </a:prstGeom>
          <a:solidFill>
            <a:srgbClr val="AAC5FF"/>
          </a:solidFill>
          <a:ln cap="flat" cmpd="sng" w="9525">
            <a:solidFill>
              <a:srgbClr val="2F6B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2F6BFF"/>
              </a:highlight>
            </a:endParaRPr>
          </a:p>
        </p:txBody>
      </p:sp>
      <p:pic>
        <p:nvPicPr>
          <p:cNvPr id="114" name="Google Shape;114;p16"/>
          <p:cNvPicPr preferRelativeResize="0"/>
          <p:nvPr/>
        </p:nvPicPr>
        <p:blipFill>
          <a:blip r:embed="rId6">
            <a:alphaModFix/>
          </a:blip>
          <a:stretch>
            <a:fillRect/>
          </a:stretch>
        </p:blipFill>
        <p:spPr>
          <a:xfrm>
            <a:off x="7000710" y="1720450"/>
            <a:ext cx="306543" cy="315714"/>
          </a:xfrm>
          <a:prstGeom prst="rect">
            <a:avLst/>
          </a:prstGeom>
          <a:noFill/>
          <a:ln>
            <a:noFill/>
          </a:ln>
        </p:spPr>
      </p:pic>
      <p:pic>
        <p:nvPicPr>
          <p:cNvPr id="115" name="Google Shape;115;p16"/>
          <p:cNvPicPr preferRelativeResize="0"/>
          <p:nvPr/>
        </p:nvPicPr>
        <p:blipFill rotWithShape="1">
          <a:blip r:embed="rId7">
            <a:alphaModFix/>
          </a:blip>
          <a:srcRect b="6726" l="18190" r="9826" t="10643"/>
          <a:stretch/>
        </p:blipFill>
        <p:spPr>
          <a:xfrm>
            <a:off x="2609900" y="629225"/>
            <a:ext cx="531018" cy="609600"/>
          </a:xfrm>
          <a:prstGeom prst="rect">
            <a:avLst/>
          </a:prstGeom>
          <a:noFill/>
          <a:ln>
            <a:noFill/>
          </a:ln>
        </p:spPr>
      </p:pic>
      <p:pic>
        <p:nvPicPr>
          <p:cNvPr id="116" name="Google Shape;116;p16"/>
          <p:cNvPicPr preferRelativeResize="0"/>
          <p:nvPr/>
        </p:nvPicPr>
        <p:blipFill rotWithShape="1">
          <a:blip r:embed="rId8">
            <a:alphaModFix/>
          </a:blip>
          <a:srcRect b="21555" l="13840" r="36356" t="26267"/>
          <a:stretch/>
        </p:blipFill>
        <p:spPr>
          <a:xfrm>
            <a:off x="8244735" y="1135088"/>
            <a:ext cx="495477" cy="5190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7"/>
          <p:cNvSpPr/>
          <p:nvPr/>
        </p:nvSpPr>
        <p:spPr>
          <a:xfrm>
            <a:off x="384048" y="192024"/>
            <a:ext cx="826389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900"/>
              <a:buFont typeface="Play"/>
              <a:buNone/>
            </a:pPr>
            <a:r>
              <a:rPr b="1" i="0" lang="en-CA" sz="1900" u="none" cap="none" strike="noStrike">
                <a:solidFill>
                  <a:srgbClr val="102A43"/>
                </a:solidFill>
                <a:latin typeface="Play"/>
                <a:ea typeface="Play"/>
                <a:cs typeface="Play"/>
                <a:sym typeface="Play"/>
              </a:rPr>
              <a:t>Pipeline: from Wiki pages to a grounded Qwen answer</a:t>
            </a:r>
            <a:endParaRPr b="0" i="0" sz="1900" u="none" cap="none" strike="noStrike">
              <a:solidFill>
                <a:schemeClr val="dk1"/>
              </a:solidFill>
              <a:latin typeface="Arial"/>
              <a:ea typeface="Arial"/>
              <a:cs typeface="Arial"/>
              <a:sym typeface="Arial"/>
            </a:endParaRPr>
          </a:p>
        </p:txBody>
      </p:sp>
      <p:sp>
        <p:nvSpPr>
          <p:cNvPr id="123" name="Google Shape;123;p17"/>
          <p:cNvSpPr/>
          <p:nvPr/>
        </p:nvSpPr>
        <p:spPr>
          <a:xfrm>
            <a:off x="397764" y="541782"/>
            <a:ext cx="819531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800"/>
              <a:buFont typeface="Arial"/>
              <a:buNone/>
            </a:pPr>
            <a:r>
              <a:rPr b="0" i="0" lang="en-CA" sz="800" u="none" cap="none" strike="noStrike">
                <a:solidFill>
                  <a:srgbClr val="6B7A90"/>
                </a:solidFill>
                <a:latin typeface="Arial"/>
                <a:ea typeface="Arial"/>
                <a:cs typeface="Arial"/>
                <a:sym typeface="Arial"/>
              </a:rPr>
              <a:t>Two stages are separated deliberately: an offline knowledge build, and an online inference path.</a:t>
            </a:r>
            <a:endParaRPr b="0" i="0" sz="800" u="none" cap="none" strike="noStrike">
              <a:solidFill>
                <a:schemeClr val="dk1"/>
              </a:solidFill>
              <a:latin typeface="Arial"/>
              <a:ea typeface="Arial"/>
              <a:cs typeface="Arial"/>
              <a:sym typeface="Arial"/>
            </a:endParaRPr>
          </a:p>
        </p:txBody>
      </p:sp>
      <p:sp>
        <p:nvSpPr>
          <p:cNvPr id="124" name="Google Shape;124;p17"/>
          <p:cNvSpPr/>
          <p:nvPr/>
        </p:nvSpPr>
        <p:spPr>
          <a:xfrm>
            <a:off x="397764" y="857250"/>
            <a:ext cx="120015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b="1" i="0" lang="en-CA" sz="600" u="none" cap="none" strike="noStrike">
                <a:solidFill>
                  <a:srgbClr val="6B7A90"/>
                </a:solidFill>
                <a:latin typeface="Arial"/>
                <a:ea typeface="Arial"/>
                <a:cs typeface="Arial"/>
                <a:sym typeface="Arial"/>
              </a:rPr>
              <a:t>OFFLINE BUILD</a:t>
            </a:r>
            <a:endParaRPr b="0" i="0" sz="600" u="none" cap="none" strike="noStrike">
              <a:solidFill>
                <a:schemeClr val="dk1"/>
              </a:solidFill>
              <a:latin typeface="Arial"/>
              <a:ea typeface="Arial"/>
              <a:cs typeface="Arial"/>
              <a:sym typeface="Arial"/>
            </a:endParaRPr>
          </a:p>
        </p:txBody>
      </p:sp>
      <p:sp>
        <p:nvSpPr>
          <p:cNvPr id="125" name="Google Shape;125;p17"/>
          <p:cNvSpPr/>
          <p:nvPr/>
        </p:nvSpPr>
        <p:spPr>
          <a:xfrm>
            <a:off x="397764" y="1083564"/>
            <a:ext cx="1385316" cy="788670"/>
          </a:xfrm>
          <a:prstGeom prst="roundRect">
            <a:avLst>
              <a:gd fmla="val 10435"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6" name="Google Shape;126;p17"/>
          <p:cNvSpPr/>
          <p:nvPr/>
        </p:nvSpPr>
        <p:spPr>
          <a:xfrm>
            <a:off x="493776" y="1179576"/>
            <a:ext cx="233172" cy="233172"/>
          </a:xfrm>
          <a:prstGeom prst="ellipse">
            <a:avLst/>
          </a:prstGeom>
          <a:solidFill>
            <a:srgbClr val="2F6B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7" name="Google Shape;127;p17"/>
          <p:cNvSpPr/>
          <p:nvPr/>
        </p:nvSpPr>
        <p:spPr>
          <a:xfrm>
            <a:off x="493776" y="1224153"/>
            <a:ext cx="233172"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CA" sz="600" u="none" cap="none" strike="noStrike">
                <a:solidFill>
                  <a:srgbClr val="FFFFFF"/>
                </a:solidFill>
                <a:latin typeface="Arial"/>
                <a:ea typeface="Arial"/>
                <a:cs typeface="Arial"/>
                <a:sym typeface="Arial"/>
              </a:rPr>
              <a:t>1</a:t>
            </a:r>
            <a:endParaRPr b="0" i="0" sz="600" u="none" cap="none" strike="noStrike">
              <a:solidFill>
                <a:schemeClr val="dk1"/>
              </a:solidFill>
              <a:latin typeface="Arial"/>
              <a:ea typeface="Arial"/>
              <a:cs typeface="Arial"/>
              <a:sym typeface="Arial"/>
            </a:endParaRPr>
          </a:p>
        </p:txBody>
      </p:sp>
      <p:sp>
        <p:nvSpPr>
          <p:cNvPr id="128" name="Google Shape;128;p17"/>
          <p:cNvSpPr/>
          <p:nvPr/>
        </p:nvSpPr>
        <p:spPr>
          <a:xfrm>
            <a:off x="795528" y="1172718"/>
            <a:ext cx="89154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Versioned sources</a:t>
            </a:r>
            <a:endParaRPr b="0" i="0" sz="800" u="none" cap="none" strike="noStrike">
              <a:solidFill>
                <a:schemeClr val="dk1"/>
              </a:solidFill>
              <a:latin typeface="Arial"/>
              <a:ea typeface="Arial"/>
              <a:cs typeface="Arial"/>
              <a:sym typeface="Arial"/>
            </a:endParaRPr>
          </a:p>
        </p:txBody>
      </p:sp>
      <p:sp>
        <p:nvSpPr>
          <p:cNvPr id="129" name="Google Shape;129;p17"/>
          <p:cNvSpPr/>
          <p:nvPr/>
        </p:nvSpPr>
        <p:spPr>
          <a:xfrm>
            <a:off x="514350" y="1453896"/>
            <a:ext cx="1152144" cy="336042"/>
          </a:xfrm>
          <a:prstGeom prst="rect">
            <a:avLst/>
          </a:prstGeom>
          <a:noFill/>
          <a:ln>
            <a:noFill/>
          </a:ln>
        </p:spPr>
        <p:txBody>
          <a:bodyPr anchorCtr="0" anchor="ctr" bIns="100" lIns="100" spcFirstLastPara="1" rIns="100" wrap="square" tIns="100">
            <a:noAutofit/>
          </a:bodyPr>
          <a:lstStyle/>
          <a:p>
            <a:pPr indent="0" lvl="0" marL="0" marR="0" rtl="0" algn="l">
              <a:spcBef>
                <a:spcPts val="0"/>
              </a:spcBef>
              <a:spcAft>
                <a:spcPts val="0"/>
              </a:spcAft>
              <a:buClr>
                <a:srgbClr val="1E293B"/>
              </a:buClr>
              <a:buSzPts val="600"/>
              <a:buFont typeface="Arial"/>
              <a:buNone/>
            </a:pPr>
            <a:r>
              <a:rPr b="0" i="0" lang="en-CA" sz="700" u="none" cap="none" strike="noStrike">
                <a:solidFill>
                  <a:srgbClr val="1E293B"/>
                </a:solidFill>
                <a:latin typeface="Arial"/>
                <a:ea typeface="Arial"/>
                <a:cs typeface="Arial"/>
                <a:sym typeface="Arial"/>
              </a:rPr>
              <a:t>Stardew / Terraria Wiki pages, page sections, URLs, game version, platform.</a:t>
            </a:r>
            <a:endParaRPr b="0" i="0" sz="700" u="none" cap="none" strike="noStrike">
              <a:solidFill>
                <a:schemeClr val="dk1"/>
              </a:solidFill>
              <a:latin typeface="Arial"/>
              <a:ea typeface="Arial"/>
              <a:cs typeface="Arial"/>
              <a:sym typeface="Arial"/>
            </a:endParaRPr>
          </a:p>
        </p:txBody>
      </p:sp>
      <p:cxnSp>
        <p:nvCxnSpPr>
          <p:cNvPr id="130" name="Google Shape;130;p17"/>
          <p:cNvCxnSpPr/>
          <p:nvPr/>
        </p:nvCxnSpPr>
        <p:spPr>
          <a:xfrm>
            <a:off x="1810512" y="1481328"/>
            <a:ext cx="240030" cy="0"/>
          </a:xfrm>
          <a:prstGeom prst="straightConnector1">
            <a:avLst/>
          </a:prstGeom>
          <a:noFill/>
          <a:ln cap="flat" cmpd="sng" w="22850">
            <a:solidFill>
              <a:srgbClr val="8B98A9"/>
            </a:solidFill>
            <a:prstDash val="solid"/>
            <a:round/>
            <a:headEnd len="sm" w="sm" type="none"/>
            <a:tailEnd len="med" w="med" type="triangle"/>
          </a:ln>
        </p:spPr>
      </p:cxnSp>
      <p:sp>
        <p:nvSpPr>
          <p:cNvPr id="131" name="Google Shape;131;p17"/>
          <p:cNvSpPr/>
          <p:nvPr/>
        </p:nvSpPr>
        <p:spPr>
          <a:xfrm>
            <a:off x="2071116" y="1083564"/>
            <a:ext cx="1385316" cy="788670"/>
          </a:xfrm>
          <a:prstGeom prst="roundRect">
            <a:avLst>
              <a:gd fmla="val 10435"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2" name="Google Shape;132;p17"/>
          <p:cNvSpPr/>
          <p:nvPr/>
        </p:nvSpPr>
        <p:spPr>
          <a:xfrm>
            <a:off x="2167128" y="1179576"/>
            <a:ext cx="233172" cy="233172"/>
          </a:xfrm>
          <a:prstGeom prst="ellipse">
            <a:avLst/>
          </a:prstGeom>
          <a:solidFill>
            <a:srgbClr val="3E7CB1"/>
          </a:solidFill>
          <a:ln cap="flat" cmpd="sng" w="12700">
            <a:solidFill>
              <a:srgbClr val="3E7CB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3" name="Google Shape;133;p17"/>
          <p:cNvSpPr/>
          <p:nvPr/>
        </p:nvSpPr>
        <p:spPr>
          <a:xfrm>
            <a:off x="2167128" y="1224153"/>
            <a:ext cx="233172"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CA" sz="600" u="none" cap="none" strike="noStrike">
                <a:solidFill>
                  <a:srgbClr val="FFFFFF"/>
                </a:solidFill>
                <a:latin typeface="Arial"/>
                <a:ea typeface="Arial"/>
                <a:cs typeface="Arial"/>
                <a:sym typeface="Arial"/>
              </a:rPr>
              <a:t>2</a:t>
            </a:r>
            <a:endParaRPr b="0" i="0" sz="600" u="none" cap="none" strike="noStrike">
              <a:solidFill>
                <a:schemeClr val="dk1"/>
              </a:solidFill>
              <a:latin typeface="Arial"/>
              <a:ea typeface="Arial"/>
              <a:cs typeface="Arial"/>
              <a:sym typeface="Arial"/>
            </a:endParaRPr>
          </a:p>
        </p:txBody>
      </p:sp>
      <p:sp>
        <p:nvSpPr>
          <p:cNvPr id="134" name="Google Shape;134;p17"/>
          <p:cNvSpPr/>
          <p:nvPr/>
        </p:nvSpPr>
        <p:spPr>
          <a:xfrm>
            <a:off x="2468880" y="1172718"/>
            <a:ext cx="89154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Parse + normalize</a:t>
            </a:r>
            <a:endParaRPr b="0" i="0" sz="800" u="none" cap="none" strike="noStrike">
              <a:solidFill>
                <a:schemeClr val="dk1"/>
              </a:solidFill>
              <a:latin typeface="Arial"/>
              <a:ea typeface="Arial"/>
              <a:cs typeface="Arial"/>
              <a:sym typeface="Arial"/>
            </a:endParaRPr>
          </a:p>
        </p:txBody>
      </p:sp>
      <p:sp>
        <p:nvSpPr>
          <p:cNvPr id="135" name="Google Shape;135;p17"/>
          <p:cNvSpPr/>
          <p:nvPr/>
        </p:nvSpPr>
        <p:spPr>
          <a:xfrm>
            <a:off x="2187702" y="1453896"/>
            <a:ext cx="1152144" cy="336042"/>
          </a:xfrm>
          <a:prstGeom prst="rect">
            <a:avLst/>
          </a:prstGeom>
          <a:noFill/>
          <a:ln>
            <a:noFill/>
          </a:ln>
        </p:spPr>
        <p:txBody>
          <a:bodyPr anchorCtr="0" anchor="ctr" bIns="100" lIns="100" spcFirstLastPara="1" rIns="100" wrap="square" tIns="100">
            <a:noAutofit/>
          </a:bodyPr>
          <a:lstStyle/>
          <a:p>
            <a:pPr indent="0" lvl="0" marL="0" marR="0" rtl="0" algn="l">
              <a:spcBef>
                <a:spcPts val="0"/>
              </a:spcBef>
              <a:spcAft>
                <a:spcPts val="0"/>
              </a:spcAft>
              <a:buClr>
                <a:srgbClr val="1E293B"/>
              </a:buClr>
              <a:buSzPts val="600"/>
              <a:buFont typeface="Arial"/>
              <a:buNone/>
            </a:pPr>
            <a:r>
              <a:rPr b="0" i="0" lang="en-CA" sz="700" u="none" cap="none" strike="noStrike">
                <a:solidFill>
                  <a:srgbClr val="1E293B"/>
                </a:solidFill>
                <a:latin typeface="Arial"/>
                <a:ea typeface="Arial"/>
                <a:cs typeface="Arial"/>
                <a:sym typeface="Arial"/>
              </a:rPr>
              <a:t>Structured schemas, bilingual aliases, acquisition links, clean guide text.</a:t>
            </a:r>
            <a:endParaRPr b="0" i="0" sz="700" u="none" cap="none" strike="noStrike">
              <a:solidFill>
                <a:schemeClr val="dk1"/>
              </a:solidFill>
              <a:latin typeface="Arial"/>
              <a:ea typeface="Arial"/>
              <a:cs typeface="Arial"/>
              <a:sym typeface="Arial"/>
            </a:endParaRPr>
          </a:p>
        </p:txBody>
      </p:sp>
      <p:cxnSp>
        <p:nvCxnSpPr>
          <p:cNvPr id="136" name="Google Shape;136;p17"/>
          <p:cNvCxnSpPr/>
          <p:nvPr/>
        </p:nvCxnSpPr>
        <p:spPr>
          <a:xfrm>
            <a:off x="3483864" y="1481328"/>
            <a:ext cx="240030" cy="0"/>
          </a:xfrm>
          <a:prstGeom prst="straightConnector1">
            <a:avLst/>
          </a:prstGeom>
          <a:noFill/>
          <a:ln cap="flat" cmpd="sng" w="22850">
            <a:solidFill>
              <a:srgbClr val="8B98A9"/>
            </a:solidFill>
            <a:prstDash val="solid"/>
            <a:round/>
            <a:headEnd len="sm" w="sm" type="none"/>
            <a:tailEnd len="med" w="med" type="triangle"/>
          </a:ln>
        </p:spPr>
      </p:cxnSp>
      <p:sp>
        <p:nvSpPr>
          <p:cNvPr id="137" name="Google Shape;137;p17"/>
          <p:cNvSpPr/>
          <p:nvPr/>
        </p:nvSpPr>
        <p:spPr>
          <a:xfrm>
            <a:off x="3744468" y="1083564"/>
            <a:ext cx="1453896" cy="788670"/>
          </a:xfrm>
          <a:prstGeom prst="roundRect">
            <a:avLst>
              <a:gd fmla="val 10435"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 name="Google Shape;138;p17"/>
          <p:cNvSpPr/>
          <p:nvPr/>
        </p:nvSpPr>
        <p:spPr>
          <a:xfrm>
            <a:off x="3840480" y="1179576"/>
            <a:ext cx="233172" cy="233172"/>
          </a:xfrm>
          <a:prstGeom prst="ellipse">
            <a:avLst/>
          </a:prstGeom>
          <a:solidFill>
            <a:srgbClr val="7657D5"/>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 name="Google Shape;139;p17"/>
          <p:cNvSpPr/>
          <p:nvPr/>
        </p:nvSpPr>
        <p:spPr>
          <a:xfrm>
            <a:off x="3840480" y="1224153"/>
            <a:ext cx="233172"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CA" sz="600" u="none" cap="none" strike="noStrike">
                <a:solidFill>
                  <a:srgbClr val="FFFFFF"/>
                </a:solidFill>
                <a:latin typeface="Arial"/>
                <a:ea typeface="Arial"/>
                <a:cs typeface="Arial"/>
                <a:sym typeface="Arial"/>
              </a:rPr>
              <a:t>3</a:t>
            </a:r>
            <a:endParaRPr b="0" i="0" sz="600" u="none" cap="none" strike="noStrike">
              <a:solidFill>
                <a:schemeClr val="dk1"/>
              </a:solidFill>
              <a:latin typeface="Arial"/>
              <a:ea typeface="Arial"/>
              <a:cs typeface="Arial"/>
              <a:sym typeface="Arial"/>
            </a:endParaRPr>
          </a:p>
        </p:txBody>
      </p:sp>
      <p:sp>
        <p:nvSpPr>
          <p:cNvPr id="140" name="Google Shape;140;p17"/>
          <p:cNvSpPr/>
          <p:nvPr/>
        </p:nvSpPr>
        <p:spPr>
          <a:xfrm>
            <a:off x="4142232" y="1172718"/>
            <a:ext cx="96012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Structured store</a:t>
            </a:r>
            <a:endParaRPr b="0" i="0" sz="800" u="none" cap="none" strike="noStrike">
              <a:solidFill>
                <a:schemeClr val="dk1"/>
              </a:solidFill>
              <a:latin typeface="Arial"/>
              <a:ea typeface="Arial"/>
              <a:cs typeface="Arial"/>
              <a:sym typeface="Arial"/>
            </a:endParaRPr>
          </a:p>
        </p:txBody>
      </p:sp>
      <p:sp>
        <p:nvSpPr>
          <p:cNvPr id="141" name="Google Shape;141;p17"/>
          <p:cNvSpPr/>
          <p:nvPr/>
        </p:nvSpPr>
        <p:spPr>
          <a:xfrm>
            <a:off x="3861054" y="1453896"/>
            <a:ext cx="1220724" cy="336042"/>
          </a:xfrm>
          <a:prstGeom prst="rect">
            <a:avLst/>
          </a:prstGeom>
          <a:noFill/>
          <a:ln>
            <a:noFill/>
          </a:ln>
        </p:spPr>
        <p:txBody>
          <a:bodyPr anchorCtr="0" anchor="ctr" bIns="100" lIns="100" spcFirstLastPara="1" rIns="100" wrap="square" tIns="100">
            <a:noAutofit/>
          </a:bodyPr>
          <a:lstStyle/>
          <a:p>
            <a:pPr indent="0" lvl="0" marL="0" marR="0" rtl="0" algn="l">
              <a:spcBef>
                <a:spcPts val="0"/>
              </a:spcBef>
              <a:spcAft>
                <a:spcPts val="0"/>
              </a:spcAft>
              <a:buClr>
                <a:srgbClr val="1E293B"/>
              </a:buClr>
              <a:buSzPts val="600"/>
              <a:buFont typeface="Arial"/>
              <a:buNone/>
            </a:pPr>
            <a:r>
              <a:rPr b="0" i="0" lang="en-CA" sz="700" u="none" cap="none" strike="noStrike">
                <a:solidFill>
                  <a:srgbClr val="1E293B"/>
                </a:solidFill>
                <a:latin typeface="Arial"/>
                <a:ea typeface="Arial"/>
                <a:cs typeface="Arial"/>
                <a:sym typeface="Arial"/>
              </a:rPr>
              <a:t>505 records in SQLite; exact lookup plus FTS5/BM25.</a:t>
            </a:r>
            <a:endParaRPr b="0" i="0" sz="700" u="none" cap="none" strike="noStrike">
              <a:solidFill>
                <a:schemeClr val="dk1"/>
              </a:solidFill>
              <a:latin typeface="Arial"/>
              <a:ea typeface="Arial"/>
              <a:cs typeface="Arial"/>
              <a:sym typeface="Arial"/>
            </a:endParaRPr>
          </a:p>
        </p:txBody>
      </p:sp>
      <p:cxnSp>
        <p:nvCxnSpPr>
          <p:cNvPr id="142" name="Google Shape;142;p17"/>
          <p:cNvCxnSpPr/>
          <p:nvPr/>
        </p:nvCxnSpPr>
        <p:spPr>
          <a:xfrm>
            <a:off x="5225796" y="1481328"/>
            <a:ext cx="240030" cy="0"/>
          </a:xfrm>
          <a:prstGeom prst="straightConnector1">
            <a:avLst/>
          </a:prstGeom>
          <a:noFill/>
          <a:ln cap="flat" cmpd="sng" w="22850">
            <a:solidFill>
              <a:srgbClr val="8B98A9"/>
            </a:solidFill>
            <a:prstDash val="solid"/>
            <a:round/>
            <a:headEnd len="sm" w="sm" type="none"/>
            <a:tailEnd len="med" w="med" type="triangle"/>
          </a:ln>
        </p:spPr>
      </p:cxnSp>
      <p:sp>
        <p:nvSpPr>
          <p:cNvPr id="143" name="Google Shape;143;p17"/>
          <p:cNvSpPr/>
          <p:nvPr/>
        </p:nvSpPr>
        <p:spPr>
          <a:xfrm>
            <a:off x="5486400" y="1083564"/>
            <a:ext cx="1453896" cy="788670"/>
          </a:xfrm>
          <a:prstGeom prst="roundRect">
            <a:avLst>
              <a:gd fmla="val 10435"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4" name="Google Shape;144;p17"/>
          <p:cNvSpPr/>
          <p:nvPr/>
        </p:nvSpPr>
        <p:spPr>
          <a:xfrm>
            <a:off x="5582412" y="1179576"/>
            <a:ext cx="233172" cy="233172"/>
          </a:xfrm>
          <a:prstGeom prst="ellipse">
            <a:avLst/>
          </a:prstGeom>
          <a:solidFill>
            <a:srgbClr val="E98B2A"/>
          </a:solidFill>
          <a:ln cap="flat" cmpd="sng" w="12700">
            <a:solidFill>
              <a:srgbClr val="E98B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5" name="Google Shape;145;p17"/>
          <p:cNvSpPr/>
          <p:nvPr/>
        </p:nvSpPr>
        <p:spPr>
          <a:xfrm>
            <a:off x="5582412" y="1224153"/>
            <a:ext cx="233172"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CA" sz="600" u="none" cap="none" strike="noStrike">
                <a:solidFill>
                  <a:srgbClr val="FFFFFF"/>
                </a:solidFill>
                <a:latin typeface="Arial"/>
                <a:ea typeface="Arial"/>
                <a:cs typeface="Arial"/>
                <a:sym typeface="Arial"/>
              </a:rPr>
              <a:t>4</a:t>
            </a:r>
            <a:endParaRPr b="0" i="0" sz="600" u="none" cap="none" strike="noStrike">
              <a:solidFill>
                <a:schemeClr val="dk1"/>
              </a:solidFill>
              <a:latin typeface="Arial"/>
              <a:ea typeface="Arial"/>
              <a:cs typeface="Arial"/>
              <a:sym typeface="Arial"/>
            </a:endParaRPr>
          </a:p>
        </p:txBody>
      </p:sp>
      <p:sp>
        <p:nvSpPr>
          <p:cNvPr id="146" name="Google Shape;146;p17"/>
          <p:cNvSpPr/>
          <p:nvPr/>
        </p:nvSpPr>
        <p:spPr>
          <a:xfrm>
            <a:off x="5884164" y="1172718"/>
            <a:ext cx="96012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Guide index</a:t>
            </a:r>
            <a:endParaRPr b="0" i="0" sz="800" u="none" cap="none" strike="noStrike">
              <a:solidFill>
                <a:schemeClr val="dk1"/>
              </a:solidFill>
              <a:latin typeface="Arial"/>
              <a:ea typeface="Arial"/>
              <a:cs typeface="Arial"/>
              <a:sym typeface="Arial"/>
            </a:endParaRPr>
          </a:p>
        </p:txBody>
      </p:sp>
      <p:sp>
        <p:nvSpPr>
          <p:cNvPr id="147" name="Google Shape;147;p17"/>
          <p:cNvSpPr/>
          <p:nvPr/>
        </p:nvSpPr>
        <p:spPr>
          <a:xfrm>
            <a:off x="5602986" y="1453896"/>
            <a:ext cx="1220724" cy="336042"/>
          </a:xfrm>
          <a:prstGeom prst="rect">
            <a:avLst/>
          </a:prstGeom>
          <a:noFill/>
          <a:ln>
            <a:noFill/>
          </a:ln>
        </p:spPr>
        <p:txBody>
          <a:bodyPr anchorCtr="0" anchor="ctr" bIns="100" lIns="100" spcFirstLastPara="1" rIns="100" wrap="square" tIns="100">
            <a:noAutofit/>
          </a:bodyPr>
          <a:lstStyle/>
          <a:p>
            <a:pPr indent="0" lvl="0" marL="0" marR="0" rtl="0" algn="l">
              <a:spcBef>
                <a:spcPts val="0"/>
              </a:spcBef>
              <a:spcAft>
                <a:spcPts val="0"/>
              </a:spcAft>
              <a:buClr>
                <a:srgbClr val="1E293B"/>
              </a:buClr>
              <a:buSzPts val="600"/>
              <a:buFont typeface="Arial"/>
              <a:buNone/>
            </a:pPr>
            <a:r>
              <a:rPr b="0" i="0" lang="en-CA" sz="700" u="none" cap="none" strike="noStrike">
                <a:solidFill>
                  <a:srgbClr val="1E293B"/>
                </a:solidFill>
                <a:latin typeface="Arial"/>
                <a:ea typeface="Arial"/>
                <a:cs typeface="Arial"/>
                <a:sym typeface="Arial"/>
              </a:rPr>
              <a:t>100 chunks; BM25 candidates plus lightweight reranking.</a:t>
            </a:r>
            <a:endParaRPr b="0" i="0" sz="700" u="none" cap="none" strike="noStrike">
              <a:solidFill>
                <a:schemeClr val="dk1"/>
              </a:solidFill>
              <a:latin typeface="Arial"/>
              <a:ea typeface="Arial"/>
              <a:cs typeface="Arial"/>
              <a:sym typeface="Arial"/>
            </a:endParaRPr>
          </a:p>
        </p:txBody>
      </p:sp>
      <p:cxnSp>
        <p:nvCxnSpPr>
          <p:cNvPr id="148" name="Google Shape;148;p17"/>
          <p:cNvCxnSpPr/>
          <p:nvPr/>
        </p:nvCxnSpPr>
        <p:spPr>
          <a:xfrm>
            <a:off x="6967728" y="1481328"/>
            <a:ext cx="240030" cy="0"/>
          </a:xfrm>
          <a:prstGeom prst="straightConnector1">
            <a:avLst/>
          </a:prstGeom>
          <a:noFill/>
          <a:ln cap="flat" cmpd="sng" w="22850">
            <a:solidFill>
              <a:srgbClr val="8B98A9"/>
            </a:solidFill>
            <a:prstDash val="solid"/>
            <a:round/>
            <a:headEnd len="sm" w="sm" type="none"/>
            <a:tailEnd len="med" w="med" type="triangle"/>
          </a:ln>
        </p:spPr>
      </p:cxnSp>
      <p:sp>
        <p:nvSpPr>
          <p:cNvPr id="149" name="Google Shape;149;p17"/>
          <p:cNvSpPr/>
          <p:nvPr/>
        </p:nvSpPr>
        <p:spPr>
          <a:xfrm>
            <a:off x="7228332" y="1083564"/>
            <a:ext cx="1508760" cy="788670"/>
          </a:xfrm>
          <a:prstGeom prst="roundRect">
            <a:avLst>
              <a:gd fmla="val 10435"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17"/>
          <p:cNvSpPr/>
          <p:nvPr/>
        </p:nvSpPr>
        <p:spPr>
          <a:xfrm>
            <a:off x="7324344" y="1179576"/>
            <a:ext cx="233172" cy="233172"/>
          </a:xfrm>
          <a:prstGeom prst="ellipse">
            <a:avLst/>
          </a:prstGeom>
          <a:solidFill>
            <a:srgbClr val="102A43"/>
          </a:solidFill>
          <a:ln cap="flat" cmpd="sng" w="12700">
            <a:solidFill>
              <a:srgbClr val="102A4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1" name="Google Shape;151;p17"/>
          <p:cNvSpPr/>
          <p:nvPr/>
        </p:nvSpPr>
        <p:spPr>
          <a:xfrm>
            <a:off x="7324344" y="1224153"/>
            <a:ext cx="233172"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CA" sz="600" u="none" cap="none" strike="noStrike">
                <a:solidFill>
                  <a:srgbClr val="FFFFFF"/>
                </a:solidFill>
                <a:latin typeface="Arial"/>
                <a:ea typeface="Arial"/>
                <a:cs typeface="Arial"/>
                <a:sym typeface="Arial"/>
              </a:rPr>
              <a:t>5</a:t>
            </a:r>
            <a:endParaRPr b="0" i="0" sz="600" u="none" cap="none" strike="noStrike">
              <a:solidFill>
                <a:schemeClr val="dk1"/>
              </a:solidFill>
              <a:latin typeface="Arial"/>
              <a:ea typeface="Arial"/>
              <a:cs typeface="Arial"/>
              <a:sym typeface="Arial"/>
            </a:endParaRPr>
          </a:p>
        </p:txBody>
      </p:sp>
      <p:sp>
        <p:nvSpPr>
          <p:cNvPr id="152" name="Google Shape;152;p17"/>
          <p:cNvSpPr/>
          <p:nvPr/>
        </p:nvSpPr>
        <p:spPr>
          <a:xfrm>
            <a:off x="7626096" y="1172718"/>
            <a:ext cx="1014984"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Evidence store</a:t>
            </a:r>
            <a:endParaRPr b="0" i="0" sz="800" u="none" cap="none" strike="noStrike">
              <a:solidFill>
                <a:schemeClr val="dk1"/>
              </a:solidFill>
              <a:latin typeface="Arial"/>
              <a:ea typeface="Arial"/>
              <a:cs typeface="Arial"/>
              <a:sym typeface="Arial"/>
            </a:endParaRPr>
          </a:p>
        </p:txBody>
      </p:sp>
      <p:sp>
        <p:nvSpPr>
          <p:cNvPr id="153" name="Google Shape;153;p17"/>
          <p:cNvSpPr/>
          <p:nvPr/>
        </p:nvSpPr>
        <p:spPr>
          <a:xfrm>
            <a:off x="7344918" y="1453896"/>
            <a:ext cx="1275588" cy="336042"/>
          </a:xfrm>
          <a:prstGeom prst="rect">
            <a:avLst/>
          </a:prstGeom>
          <a:noFill/>
          <a:ln>
            <a:noFill/>
          </a:ln>
        </p:spPr>
        <p:txBody>
          <a:bodyPr anchorCtr="0" anchor="ctr" bIns="100" lIns="100" spcFirstLastPara="1" rIns="100" wrap="square" tIns="100">
            <a:noAutofit/>
          </a:bodyPr>
          <a:lstStyle/>
          <a:p>
            <a:pPr indent="0" lvl="0" marL="0" marR="0" rtl="0" algn="l">
              <a:spcBef>
                <a:spcPts val="0"/>
              </a:spcBef>
              <a:spcAft>
                <a:spcPts val="0"/>
              </a:spcAft>
              <a:buClr>
                <a:srgbClr val="1E293B"/>
              </a:buClr>
              <a:buSzPts val="600"/>
              <a:buFont typeface="Arial"/>
              <a:buNone/>
            </a:pPr>
            <a:r>
              <a:rPr b="0" i="0" lang="en-CA" sz="700" u="none" cap="none" strike="noStrike">
                <a:solidFill>
                  <a:srgbClr val="1E293B"/>
                </a:solidFill>
                <a:latin typeface="Arial"/>
                <a:ea typeface="Arial"/>
                <a:cs typeface="Arial"/>
                <a:sym typeface="Arial"/>
              </a:rPr>
              <a:t>Stable source IDs and provenance retained for every answer.</a:t>
            </a:r>
            <a:endParaRPr b="0" i="0" sz="700" u="none" cap="none" strike="noStrike">
              <a:solidFill>
                <a:schemeClr val="dk1"/>
              </a:solidFill>
              <a:latin typeface="Arial"/>
              <a:ea typeface="Arial"/>
              <a:cs typeface="Arial"/>
              <a:sym typeface="Arial"/>
            </a:endParaRPr>
          </a:p>
        </p:txBody>
      </p:sp>
      <p:cxnSp>
        <p:nvCxnSpPr>
          <p:cNvPr id="154" name="Google Shape;154;p17"/>
          <p:cNvCxnSpPr/>
          <p:nvPr/>
        </p:nvCxnSpPr>
        <p:spPr>
          <a:xfrm>
            <a:off x="397764" y="2084832"/>
            <a:ext cx="8346186" cy="0"/>
          </a:xfrm>
          <a:prstGeom prst="straightConnector1">
            <a:avLst/>
          </a:prstGeom>
          <a:noFill/>
          <a:ln cap="flat" cmpd="sng" w="12700">
            <a:solidFill>
              <a:srgbClr val="D7DFEA"/>
            </a:solidFill>
            <a:prstDash val="solid"/>
            <a:round/>
            <a:headEnd len="sm" w="sm" type="none"/>
            <a:tailEnd len="sm" w="sm" type="none"/>
          </a:ln>
        </p:spPr>
      </p:cxnSp>
      <p:sp>
        <p:nvSpPr>
          <p:cNvPr id="155" name="Google Shape;155;p17"/>
          <p:cNvSpPr/>
          <p:nvPr/>
        </p:nvSpPr>
        <p:spPr>
          <a:xfrm>
            <a:off x="397764" y="2208276"/>
            <a:ext cx="120015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FF"/>
              </a:buClr>
              <a:buSzPts val="600"/>
              <a:buFont typeface="Arial"/>
              <a:buNone/>
            </a:pPr>
            <a:r>
              <a:rPr b="1" i="0" lang="en-CA" sz="600" u="none" cap="none" strike="noStrike">
                <a:solidFill>
                  <a:srgbClr val="2F6BFF"/>
                </a:solidFill>
                <a:latin typeface="Arial"/>
                <a:ea typeface="Arial"/>
                <a:cs typeface="Arial"/>
                <a:sym typeface="Arial"/>
              </a:rPr>
              <a:t>ONLINE INFERENCE</a:t>
            </a:r>
            <a:endParaRPr b="0" i="0" sz="600" u="none" cap="none" strike="noStrike">
              <a:solidFill>
                <a:schemeClr val="dk1"/>
              </a:solidFill>
              <a:latin typeface="Arial"/>
              <a:ea typeface="Arial"/>
              <a:cs typeface="Arial"/>
              <a:sym typeface="Arial"/>
            </a:endParaRPr>
          </a:p>
        </p:txBody>
      </p:sp>
      <p:sp>
        <p:nvSpPr>
          <p:cNvPr id="156" name="Google Shape;156;p17"/>
          <p:cNvSpPr/>
          <p:nvPr/>
        </p:nvSpPr>
        <p:spPr>
          <a:xfrm>
            <a:off x="397764" y="2434590"/>
            <a:ext cx="1152144" cy="1076706"/>
          </a:xfrm>
          <a:prstGeom prst="roundRect">
            <a:avLst>
              <a:gd fmla="val 7643" name="adj"/>
            </a:avLst>
          </a:prstGeom>
          <a:solidFill>
            <a:srgbClr val="FFFF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 name="Google Shape;157;p17"/>
          <p:cNvSpPr/>
          <p:nvPr/>
        </p:nvSpPr>
        <p:spPr>
          <a:xfrm>
            <a:off x="466344" y="2503170"/>
            <a:ext cx="34290" cy="939546"/>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17"/>
          <p:cNvSpPr/>
          <p:nvPr/>
        </p:nvSpPr>
        <p:spPr>
          <a:xfrm>
            <a:off x="569214" y="2558034"/>
            <a:ext cx="9189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Question + state</a:t>
            </a:r>
            <a:endParaRPr b="0" i="0" sz="800" u="none" cap="none" strike="noStrike">
              <a:solidFill>
                <a:schemeClr val="dk1"/>
              </a:solidFill>
              <a:latin typeface="Arial"/>
              <a:ea typeface="Arial"/>
              <a:cs typeface="Arial"/>
              <a:sym typeface="Arial"/>
            </a:endParaRPr>
          </a:p>
        </p:txBody>
      </p:sp>
      <p:sp>
        <p:nvSpPr>
          <p:cNvPr id="159" name="Google Shape;159;p17"/>
          <p:cNvSpPr/>
          <p:nvPr/>
        </p:nvSpPr>
        <p:spPr>
          <a:xfrm>
            <a:off x="569214" y="2859786"/>
            <a:ext cx="918972" cy="4526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600"/>
              <a:buFont typeface="Arial"/>
              <a:buNone/>
            </a:pPr>
            <a:r>
              <a:rPr b="0" i="0" lang="en-CA" sz="600" u="none" cap="none" strike="noStrike">
                <a:solidFill>
                  <a:srgbClr val="1E293B"/>
                </a:solidFill>
                <a:latin typeface="Arial"/>
                <a:ea typeface="Arial"/>
                <a:cs typeface="Arial"/>
                <a:sym typeface="Arial"/>
              </a:rPr>
              <a:t>Game, language, season, day, weather, time, location</a:t>
            </a:r>
            <a:endParaRPr b="0" i="0" sz="600" u="none" cap="none" strike="noStrike">
              <a:solidFill>
                <a:schemeClr val="dk1"/>
              </a:solidFill>
              <a:latin typeface="Arial"/>
              <a:ea typeface="Arial"/>
              <a:cs typeface="Arial"/>
              <a:sym typeface="Arial"/>
            </a:endParaRPr>
          </a:p>
        </p:txBody>
      </p:sp>
      <p:cxnSp>
        <p:nvCxnSpPr>
          <p:cNvPr id="160" name="Google Shape;160;p17"/>
          <p:cNvCxnSpPr/>
          <p:nvPr/>
        </p:nvCxnSpPr>
        <p:spPr>
          <a:xfrm>
            <a:off x="1570482" y="2962656"/>
            <a:ext cx="82296" cy="0"/>
          </a:xfrm>
          <a:prstGeom prst="straightConnector1">
            <a:avLst/>
          </a:prstGeom>
          <a:noFill/>
          <a:ln cap="flat" cmpd="sng" w="22850">
            <a:solidFill>
              <a:srgbClr val="8B98A9"/>
            </a:solidFill>
            <a:prstDash val="solid"/>
            <a:round/>
            <a:headEnd len="sm" w="sm" type="none"/>
            <a:tailEnd len="med" w="med" type="triangle"/>
          </a:ln>
        </p:spPr>
      </p:cxnSp>
      <p:sp>
        <p:nvSpPr>
          <p:cNvPr id="161" name="Google Shape;161;p17"/>
          <p:cNvSpPr/>
          <p:nvPr/>
        </p:nvSpPr>
        <p:spPr>
          <a:xfrm>
            <a:off x="1673352" y="2434590"/>
            <a:ext cx="1152144" cy="1076706"/>
          </a:xfrm>
          <a:prstGeom prst="roundRect">
            <a:avLst>
              <a:gd fmla="val 7643" name="adj"/>
            </a:avLst>
          </a:prstGeom>
          <a:solidFill>
            <a:srgbClr val="FFFFFF"/>
          </a:solidFill>
          <a:ln cap="flat" cmpd="sng" w="12700">
            <a:solidFill>
              <a:srgbClr val="3E7CB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2" name="Google Shape;162;p17"/>
          <p:cNvSpPr/>
          <p:nvPr/>
        </p:nvSpPr>
        <p:spPr>
          <a:xfrm>
            <a:off x="1741932" y="2503170"/>
            <a:ext cx="34290" cy="939546"/>
          </a:xfrm>
          <a:prstGeom prst="rect">
            <a:avLst/>
          </a:prstGeom>
          <a:solidFill>
            <a:srgbClr val="3E7CB1"/>
          </a:solidFill>
          <a:ln cap="flat" cmpd="sng" w="12700">
            <a:solidFill>
              <a:srgbClr val="3E7CB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 name="Google Shape;163;p17"/>
          <p:cNvSpPr/>
          <p:nvPr/>
        </p:nvSpPr>
        <p:spPr>
          <a:xfrm>
            <a:off x="1844802" y="2558034"/>
            <a:ext cx="9189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Router + parser</a:t>
            </a:r>
            <a:endParaRPr b="0" i="0" sz="800" u="none" cap="none" strike="noStrike">
              <a:solidFill>
                <a:schemeClr val="dk1"/>
              </a:solidFill>
              <a:latin typeface="Arial"/>
              <a:ea typeface="Arial"/>
              <a:cs typeface="Arial"/>
              <a:sym typeface="Arial"/>
            </a:endParaRPr>
          </a:p>
        </p:txBody>
      </p:sp>
      <p:sp>
        <p:nvSpPr>
          <p:cNvPr id="164" name="Google Shape;164;p17"/>
          <p:cNvSpPr/>
          <p:nvPr/>
        </p:nvSpPr>
        <p:spPr>
          <a:xfrm>
            <a:off x="1844802" y="2859786"/>
            <a:ext cx="918972" cy="4526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600"/>
              <a:buFont typeface="Arial"/>
              <a:buNone/>
            </a:pPr>
            <a:r>
              <a:rPr b="0" i="0" lang="en-CA" sz="600" u="none" cap="none" strike="noStrike">
                <a:solidFill>
                  <a:srgbClr val="1E293B"/>
                </a:solidFill>
                <a:latin typeface="Arial"/>
                <a:ea typeface="Arial"/>
                <a:cs typeface="Arial"/>
                <a:sym typeface="Arial"/>
              </a:rPr>
              <a:t>Intent, entity linking, missing-context status</a:t>
            </a:r>
            <a:endParaRPr b="0" i="0" sz="600" u="none" cap="none" strike="noStrike">
              <a:solidFill>
                <a:schemeClr val="dk1"/>
              </a:solidFill>
              <a:latin typeface="Arial"/>
              <a:ea typeface="Arial"/>
              <a:cs typeface="Arial"/>
              <a:sym typeface="Arial"/>
            </a:endParaRPr>
          </a:p>
        </p:txBody>
      </p:sp>
      <p:cxnSp>
        <p:nvCxnSpPr>
          <p:cNvPr id="165" name="Google Shape;165;p17"/>
          <p:cNvCxnSpPr/>
          <p:nvPr/>
        </p:nvCxnSpPr>
        <p:spPr>
          <a:xfrm>
            <a:off x="2846070" y="2962656"/>
            <a:ext cx="82296" cy="0"/>
          </a:xfrm>
          <a:prstGeom prst="straightConnector1">
            <a:avLst/>
          </a:prstGeom>
          <a:noFill/>
          <a:ln cap="flat" cmpd="sng" w="22850">
            <a:solidFill>
              <a:srgbClr val="8B98A9"/>
            </a:solidFill>
            <a:prstDash val="solid"/>
            <a:round/>
            <a:headEnd len="sm" w="sm" type="none"/>
            <a:tailEnd len="med" w="med" type="triangle"/>
          </a:ln>
        </p:spPr>
      </p:cxnSp>
      <p:sp>
        <p:nvSpPr>
          <p:cNvPr id="166" name="Google Shape;166;p17"/>
          <p:cNvSpPr/>
          <p:nvPr/>
        </p:nvSpPr>
        <p:spPr>
          <a:xfrm>
            <a:off x="2948940" y="2434590"/>
            <a:ext cx="1152144" cy="1076706"/>
          </a:xfrm>
          <a:prstGeom prst="roundRect">
            <a:avLst>
              <a:gd fmla="val 7643" name="adj"/>
            </a:avLst>
          </a:prstGeom>
          <a:solidFill>
            <a:srgbClr val="FFFFFF"/>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7" name="Google Shape;167;p17"/>
          <p:cNvSpPr/>
          <p:nvPr/>
        </p:nvSpPr>
        <p:spPr>
          <a:xfrm>
            <a:off x="3017520" y="2503170"/>
            <a:ext cx="34290" cy="939546"/>
          </a:xfrm>
          <a:prstGeom prst="rect">
            <a:avLst/>
          </a:prstGeom>
          <a:solidFill>
            <a:srgbClr val="7657D5"/>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8" name="Google Shape;168;p17"/>
          <p:cNvSpPr/>
          <p:nvPr/>
        </p:nvSpPr>
        <p:spPr>
          <a:xfrm>
            <a:off x="3120390" y="2558034"/>
            <a:ext cx="9189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Dual retrieval</a:t>
            </a:r>
            <a:endParaRPr b="0" i="0" sz="800" u="none" cap="none" strike="noStrike">
              <a:solidFill>
                <a:schemeClr val="dk1"/>
              </a:solidFill>
              <a:latin typeface="Arial"/>
              <a:ea typeface="Arial"/>
              <a:cs typeface="Arial"/>
              <a:sym typeface="Arial"/>
            </a:endParaRPr>
          </a:p>
        </p:txBody>
      </p:sp>
      <p:sp>
        <p:nvSpPr>
          <p:cNvPr id="169" name="Google Shape;169;p17"/>
          <p:cNvSpPr/>
          <p:nvPr/>
        </p:nvSpPr>
        <p:spPr>
          <a:xfrm>
            <a:off x="3120390" y="2859786"/>
            <a:ext cx="918972" cy="4526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600"/>
              <a:buFont typeface="Arial"/>
              <a:buNone/>
            </a:pPr>
            <a:r>
              <a:rPr b="0" i="0" lang="en-CA" sz="600" u="none" cap="none" strike="noStrike">
                <a:solidFill>
                  <a:srgbClr val="1E293B"/>
                </a:solidFill>
                <a:latin typeface="Arial"/>
                <a:ea typeface="Arial"/>
                <a:cs typeface="Arial"/>
                <a:sym typeface="Arial"/>
              </a:rPr>
              <a:t>FactService + guide retriever</a:t>
            </a:r>
            <a:endParaRPr b="0" i="0" sz="600" u="none" cap="none" strike="noStrike">
              <a:solidFill>
                <a:schemeClr val="dk1"/>
              </a:solidFill>
              <a:latin typeface="Arial"/>
              <a:ea typeface="Arial"/>
              <a:cs typeface="Arial"/>
              <a:sym typeface="Arial"/>
            </a:endParaRPr>
          </a:p>
        </p:txBody>
      </p:sp>
      <p:cxnSp>
        <p:nvCxnSpPr>
          <p:cNvPr id="170" name="Google Shape;170;p17"/>
          <p:cNvCxnSpPr/>
          <p:nvPr/>
        </p:nvCxnSpPr>
        <p:spPr>
          <a:xfrm>
            <a:off x="4121658" y="2962656"/>
            <a:ext cx="82296" cy="0"/>
          </a:xfrm>
          <a:prstGeom prst="straightConnector1">
            <a:avLst/>
          </a:prstGeom>
          <a:noFill/>
          <a:ln cap="flat" cmpd="sng" w="22850">
            <a:solidFill>
              <a:srgbClr val="8B98A9"/>
            </a:solidFill>
            <a:prstDash val="solid"/>
            <a:round/>
            <a:headEnd len="sm" w="sm" type="none"/>
            <a:tailEnd len="med" w="med" type="triangle"/>
          </a:ln>
        </p:spPr>
      </p:cxnSp>
      <p:sp>
        <p:nvSpPr>
          <p:cNvPr id="171" name="Google Shape;171;p17"/>
          <p:cNvSpPr/>
          <p:nvPr/>
        </p:nvSpPr>
        <p:spPr>
          <a:xfrm>
            <a:off x="4224528" y="2434590"/>
            <a:ext cx="1152144" cy="1076706"/>
          </a:xfrm>
          <a:prstGeom prst="roundRect">
            <a:avLst>
              <a:gd fmla="val 7643" name="adj"/>
            </a:avLst>
          </a:prstGeom>
          <a:solidFill>
            <a:srgbClr val="FFFFFF"/>
          </a:solidFill>
          <a:ln cap="flat" cmpd="sng" w="12700">
            <a:solidFill>
              <a:srgbClr val="E98B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 name="Google Shape;172;p17"/>
          <p:cNvSpPr/>
          <p:nvPr/>
        </p:nvSpPr>
        <p:spPr>
          <a:xfrm>
            <a:off x="4293108" y="2503170"/>
            <a:ext cx="34290" cy="939546"/>
          </a:xfrm>
          <a:prstGeom prst="rect">
            <a:avLst/>
          </a:prstGeom>
          <a:solidFill>
            <a:srgbClr val="E98B2A"/>
          </a:solidFill>
          <a:ln cap="flat" cmpd="sng" w="12700">
            <a:solidFill>
              <a:srgbClr val="E98B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3" name="Google Shape;173;p17"/>
          <p:cNvSpPr/>
          <p:nvPr/>
        </p:nvSpPr>
        <p:spPr>
          <a:xfrm>
            <a:off x="4395978" y="2558034"/>
            <a:ext cx="9189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Evidence selector</a:t>
            </a:r>
            <a:endParaRPr b="0" i="0" sz="800" u="none" cap="none" strike="noStrike">
              <a:solidFill>
                <a:schemeClr val="dk1"/>
              </a:solidFill>
              <a:latin typeface="Arial"/>
              <a:ea typeface="Arial"/>
              <a:cs typeface="Arial"/>
              <a:sym typeface="Arial"/>
            </a:endParaRPr>
          </a:p>
        </p:txBody>
      </p:sp>
      <p:sp>
        <p:nvSpPr>
          <p:cNvPr id="174" name="Google Shape;174;p17"/>
          <p:cNvSpPr/>
          <p:nvPr/>
        </p:nvSpPr>
        <p:spPr>
          <a:xfrm>
            <a:off x="4395978" y="2859786"/>
            <a:ext cx="918972" cy="4526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600"/>
              <a:buFont typeface="Arial"/>
              <a:buNone/>
            </a:pPr>
            <a:r>
              <a:rPr b="0" i="0" lang="en-CA" sz="600" u="none" cap="none" strike="noStrike">
                <a:solidFill>
                  <a:srgbClr val="1E293B"/>
                </a:solidFill>
                <a:latin typeface="Arial"/>
                <a:ea typeface="Arial"/>
                <a:cs typeface="Arial"/>
                <a:sym typeface="Arial"/>
              </a:rPr>
              <a:t>Deduplicate; prioritize facts; enforce budgets</a:t>
            </a:r>
            <a:endParaRPr b="0" i="0" sz="600" u="none" cap="none" strike="noStrike">
              <a:solidFill>
                <a:schemeClr val="dk1"/>
              </a:solidFill>
              <a:latin typeface="Arial"/>
              <a:ea typeface="Arial"/>
              <a:cs typeface="Arial"/>
              <a:sym typeface="Arial"/>
            </a:endParaRPr>
          </a:p>
        </p:txBody>
      </p:sp>
      <p:cxnSp>
        <p:nvCxnSpPr>
          <p:cNvPr id="175" name="Google Shape;175;p17"/>
          <p:cNvCxnSpPr/>
          <p:nvPr/>
        </p:nvCxnSpPr>
        <p:spPr>
          <a:xfrm>
            <a:off x="5397246" y="2962656"/>
            <a:ext cx="82296" cy="0"/>
          </a:xfrm>
          <a:prstGeom prst="straightConnector1">
            <a:avLst/>
          </a:prstGeom>
          <a:noFill/>
          <a:ln cap="flat" cmpd="sng" w="22850">
            <a:solidFill>
              <a:srgbClr val="8B98A9"/>
            </a:solidFill>
            <a:prstDash val="solid"/>
            <a:round/>
            <a:headEnd len="sm" w="sm" type="none"/>
            <a:tailEnd len="med" w="med" type="triangle"/>
          </a:ln>
        </p:spPr>
      </p:cxnSp>
      <p:sp>
        <p:nvSpPr>
          <p:cNvPr id="176" name="Google Shape;176;p17"/>
          <p:cNvSpPr/>
          <p:nvPr/>
        </p:nvSpPr>
        <p:spPr>
          <a:xfrm>
            <a:off x="5500116" y="2434590"/>
            <a:ext cx="1152144" cy="1076706"/>
          </a:xfrm>
          <a:prstGeom prst="roundRect">
            <a:avLst>
              <a:gd fmla="val 7643" name="adj"/>
            </a:avLst>
          </a:prstGeom>
          <a:solidFill>
            <a:srgbClr val="EAF1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 name="Google Shape;177;p17"/>
          <p:cNvSpPr/>
          <p:nvPr/>
        </p:nvSpPr>
        <p:spPr>
          <a:xfrm>
            <a:off x="5568696" y="2503170"/>
            <a:ext cx="34290" cy="939546"/>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8" name="Google Shape;178;p17"/>
          <p:cNvSpPr/>
          <p:nvPr/>
        </p:nvSpPr>
        <p:spPr>
          <a:xfrm>
            <a:off x="5671566" y="2558034"/>
            <a:ext cx="9189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Grounded prompt</a:t>
            </a:r>
            <a:endParaRPr b="0" i="0" sz="800" u="none" cap="none" strike="noStrike">
              <a:solidFill>
                <a:schemeClr val="dk1"/>
              </a:solidFill>
              <a:latin typeface="Arial"/>
              <a:ea typeface="Arial"/>
              <a:cs typeface="Arial"/>
              <a:sym typeface="Arial"/>
            </a:endParaRPr>
          </a:p>
        </p:txBody>
      </p:sp>
      <p:sp>
        <p:nvSpPr>
          <p:cNvPr id="179" name="Google Shape;179;p17"/>
          <p:cNvSpPr/>
          <p:nvPr/>
        </p:nvSpPr>
        <p:spPr>
          <a:xfrm>
            <a:off x="5671566" y="2859786"/>
            <a:ext cx="918972" cy="4526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600"/>
              <a:buFont typeface="Arial"/>
              <a:buNone/>
            </a:pPr>
            <a:r>
              <a:rPr b="0" i="0" lang="en-CA" sz="600" u="none" cap="none" strike="noStrike">
                <a:solidFill>
                  <a:srgbClr val="1E293B"/>
                </a:solidFill>
                <a:latin typeface="Arial"/>
                <a:ea typeface="Arial"/>
                <a:cs typeface="Arial"/>
                <a:sym typeface="Arial"/>
              </a:rPr>
              <a:t>≤ 6 sources; ≤ 14k evidence characters</a:t>
            </a:r>
            <a:endParaRPr b="0" i="0" sz="600" u="none" cap="none" strike="noStrike">
              <a:solidFill>
                <a:schemeClr val="dk1"/>
              </a:solidFill>
              <a:latin typeface="Arial"/>
              <a:ea typeface="Arial"/>
              <a:cs typeface="Arial"/>
              <a:sym typeface="Arial"/>
            </a:endParaRPr>
          </a:p>
        </p:txBody>
      </p:sp>
      <p:cxnSp>
        <p:nvCxnSpPr>
          <p:cNvPr id="180" name="Google Shape;180;p17"/>
          <p:cNvCxnSpPr/>
          <p:nvPr/>
        </p:nvCxnSpPr>
        <p:spPr>
          <a:xfrm>
            <a:off x="6672834" y="2962656"/>
            <a:ext cx="82296" cy="0"/>
          </a:xfrm>
          <a:prstGeom prst="straightConnector1">
            <a:avLst/>
          </a:prstGeom>
          <a:noFill/>
          <a:ln cap="flat" cmpd="sng" w="22850">
            <a:solidFill>
              <a:srgbClr val="8B98A9"/>
            </a:solidFill>
            <a:prstDash val="solid"/>
            <a:round/>
            <a:headEnd len="sm" w="sm" type="none"/>
            <a:tailEnd len="med" w="med" type="triangle"/>
          </a:ln>
        </p:spPr>
      </p:cxnSp>
      <p:sp>
        <p:nvSpPr>
          <p:cNvPr id="181" name="Google Shape;181;p17"/>
          <p:cNvSpPr/>
          <p:nvPr/>
        </p:nvSpPr>
        <p:spPr>
          <a:xfrm>
            <a:off x="6775704" y="2434590"/>
            <a:ext cx="1152144" cy="1076706"/>
          </a:xfrm>
          <a:prstGeom prst="roundRect">
            <a:avLst>
              <a:gd fmla="val 7643" name="adj"/>
            </a:avLst>
          </a:prstGeom>
          <a:solidFill>
            <a:srgbClr val="FFFFFF"/>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17"/>
          <p:cNvSpPr/>
          <p:nvPr/>
        </p:nvSpPr>
        <p:spPr>
          <a:xfrm>
            <a:off x="6844284" y="2503170"/>
            <a:ext cx="34290" cy="939546"/>
          </a:xfrm>
          <a:prstGeom prst="rect">
            <a:avLst/>
          </a:prstGeom>
          <a:solidFill>
            <a:srgbClr val="7657D5"/>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 name="Google Shape;183;p17"/>
          <p:cNvSpPr/>
          <p:nvPr/>
        </p:nvSpPr>
        <p:spPr>
          <a:xfrm>
            <a:off x="6947154" y="2558034"/>
            <a:ext cx="9189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Qwen3-4B</a:t>
            </a:r>
            <a:endParaRPr b="0" i="0" sz="800" u="none" cap="none" strike="noStrike">
              <a:solidFill>
                <a:schemeClr val="dk1"/>
              </a:solidFill>
              <a:latin typeface="Arial"/>
              <a:ea typeface="Arial"/>
              <a:cs typeface="Arial"/>
              <a:sym typeface="Arial"/>
            </a:endParaRPr>
          </a:p>
        </p:txBody>
      </p:sp>
      <p:sp>
        <p:nvSpPr>
          <p:cNvPr id="184" name="Google Shape;184;p17"/>
          <p:cNvSpPr/>
          <p:nvPr/>
        </p:nvSpPr>
        <p:spPr>
          <a:xfrm>
            <a:off x="6947154" y="2859786"/>
            <a:ext cx="918972" cy="4526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600"/>
              <a:buFont typeface="Arial"/>
              <a:buNone/>
            </a:pPr>
            <a:r>
              <a:rPr b="0" i="0" lang="en-CA" sz="600" u="none" cap="none" strike="noStrike">
                <a:solidFill>
                  <a:srgbClr val="1E293B"/>
                </a:solidFill>
                <a:latin typeface="Arial"/>
                <a:ea typeface="Arial"/>
                <a:cs typeface="Arial"/>
                <a:sym typeface="Arial"/>
              </a:rPr>
              <a:t>Non-thinking generation from selected evidence</a:t>
            </a:r>
            <a:endParaRPr b="0" i="0" sz="600" u="none" cap="none" strike="noStrike">
              <a:solidFill>
                <a:schemeClr val="dk1"/>
              </a:solidFill>
              <a:latin typeface="Arial"/>
              <a:ea typeface="Arial"/>
              <a:cs typeface="Arial"/>
              <a:sym typeface="Arial"/>
            </a:endParaRPr>
          </a:p>
        </p:txBody>
      </p:sp>
      <p:cxnSp>
        <p:nvCxnSpPr>
          <p:cNvPr id="185" name="Google Shape;185;p17"/>
          <p:cNvCxnSpPr/>
          <p:nvPr/>
        </p:nvCxnSpPr>
        <p:spPr>
          <a:xfrm>
            <a:off x="7948422" y="2962656"/>
            <a:ext cx="82296" cy="0"/>
          </a:xfrm>
          <a:prstGeom prst="straightConnector1">
            <a:avLst/>
          </a:prstGeom>
          <a:noFill/>
          <a:ln cap="flat" cmpd="sng" w="22850">
            <a:solidFill>
              <a:srgbClr val="8B98A9"/>
            </a:solidFill>
            <a:prstDash val="solid"/>
            <a:round/>
            <a:headEnd len="sm" w="sm" type="none"/>
            <a:tailEnd len="med" w="med" type="triangle"/>
          </a:ln>
        </p:spPr>
      </p:cxnSp>
      <p:sp>
        <p:nvSpPr>
          <p:cNvPr id="186" name="Google Shape;186;p17"/>
          <p:cNvSpPr/>
          <p:nvPr/>
        </p:nvSpPr>
        <p:spPr>
          <a:xfrm>
            <a:off x="8051292" y="2434590"/>
            <a:ext cx="699516" cy="1076706"/>
          </a:xfrm>
          <a:prstGeom prst="roundRect">
            <a:avLst>
              <a:gd fmla="val 11765" name="adj"/>
            </a:avLst>
          </a:prstGeom>
          <a:solidFill>
            <a:srgbClr val="FFFFFF"/>
          </a:solidFill>
          <a:ln cap="flat" cmpd="sng" w="12700">
            <a:solidFill>
              <a:srgbClr val="C84D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17"/>
          <p:cNvSpPr/>
          <p:nvPr/>
        </p:nvSpPr>
        <p:spPr>
          <a:xfrm>
            <a:off x="8119872" y="2503170"/>
            <a:ext cx="34290" cy="939546"/>
          </a:xfrm>
          <a:prstGeom prst="rect">
            <a:avLst/>
          </a:prstGeom>
          <a:solidFill>
            <a:srgbClr val="C84D4D"/>
          </a:solidFill>
          <a:ln cap="flat" cmpd="sng" w="12700">
            <a:solidFill>
              <a:srgbClr val="C84D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p17"/>
          <p:cNvSpPr/>
          <p:nvPr/>
        </p:nvSpPr>
        <p:spPr>
          <a:xfrm>
            <a:off x="8222742" y="2558034"/>
            <a:ext cx="466344"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Validator</a:t>
            </a:r>
            <a:endParaRPr b="0" i="0" sz="800" u="none" cap="none" strike="noStrike">
              <a:solidFill>
                <a:schemeClr val="dk1"/>
              </a:solidFill>
              <a:latin typeface="Arial"/>
              <a:ea typeface="Arial"/>
              <a:cs typeface="Arial"/>
              <a:sym typeface="Arial"/>
            </a:endParaRPr>
          </a:p>
        </p:txBody>
      </p:sp>
      <p:sp>
        <p:nvSpPr>
          <p:cNvPr id="189" name="Google Shape;189;p17"/>
          <p:cNvSpPr/>
          <p:nvPr/>
        </p:nvSpPr>
        <p:spPr>
          <a:xfrm>
            <a:off x="8222742" y="2859786"/>
            <a:ext cx="466344" cy="4526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500"/>
              <a:buFont typeface="Arial"/>
              <a:buNone/>
            </a:pPr>
            <a:r>
              <a:rPr b="0" i="0" lang="en-CA" sz="500" u="none" cap="none" strike="noStrike">
                <a:solidFill>
                  <a:srgbClr val="1E293B"/>
                </a:solidFill>
                <a:latin typeface="Arial"/>
                <a:ea typeface="Arial"/>
                <a:cs typeface="Arial"/>
                <a:sym typeface="Arial"/>
              </a:rPr>
              <a:t>IDs, URLs, length, hidden traces, numeric support</a:t>
            </a:r>
            <a:endParaRPr b="0" i="0" sz="500" u="none" cap="none" strike="noStrike">
              <a:solidFill>
                <a:schemeClr val="dk1"/>
              </a:solidFill>
              <a:latin typeface="Arial"/>
              <a:ea typeface="Arial"/>
              <a:cs typeface="Arial"/>
              <a:sym typeface="Arial"/>
            </a:endParaRPr>
          </a:p>
        </p:txBody>
      </p:sp>
      <p:sp>
        <p:nvSpPr>
          <p:cNvPr id="190" name="Google Shape;190;p17"/>
          <p:cNvSpPr/>
          <p:nvPr/>
        </p:nvSpPr>
        <p:spPr>
          <a:xfrm>
            <a:off x="397764" y="3717036"/>
            <a:ext cx="8339328" cy="809244"/>
          </a:xfrm>
          <a:prstGeom prst="roundRect">
            <a:avLst>
              <a:gd fmla="val 10169" name="adj"/>
            </a:avLst>
          </a:prstGeom>
          <a:solidFill>
            <a:srgbClr val="EEF3F8"/>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 name="Google Shape;191;p17"/>
          <p:cNvSpPr/>
          <p:nvPr/>
        </p:nvSpPr>
        <p:spPr>
          <a:xfrm>
            <a:off x="562356" y="3874770"/>
            <a:ext cx="75438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Formal view</a:t>
            </a:r>
            <a:endParaRPr b="0" i="0" sz="800" u="none" cap="none" strike="noStrike">
              <a:solidFill>
                <a:schemeClr val="dk1"/>
              </a:solidFill>
              <a:latin typeface="Arial"/>
              <a:ea typeface="Arial"/>
              <a:cs typeface="Arial"/>
              <a:sym typeface="Arial"/>
            </a:endParaRPr>
          </a:p>
        </p:txBody>
      </p:sp>
      <p:sp>
        <p:nvSpPr>
          <p:cNvPr id="192" name="Google Shape;192;p17"/>
          <p:cNvSpPr/>
          <p:nvPr/>
        </p:nvSpPr>
        <p:spPr>
          <a:xfrm>
            <a:off x="1316725" y="3837013"/>
            <a:ext cx="7372200" cy="205800"/>
          </a:xfrm>
          <a:prstGeom prst="rect">
            <a:avLst/>
          </a:prstGeom>
          <a:solidFill>
            <a:srgbClr val="EEF3F8"/>
          </a:solidFill>
          <a:ln>
            <a:noFill/>
          </a:ln>
        </p:spPr>
        <p:txBody>
          <a:bodyPr anchorCtr="0" anchor="ctr" bIns="0" lIns="0" spcFirstLastPara="1" rIns="0" wrap="square" tIns="0">
            <a:noAutofit/>
          </a:bodyPr>
          <a:lstStyle/>
          <a:p>
            <a:pPr indent="0" lvl="0" marL="0" rtl="0" algn="ctr">
              <a:spcBef>
                <a:spcPts val="0"/>
              </a:spcBef>
              <a:spcAft>
                <a:spcPts val="0"/>
              </a:spcAft>
              <a:buClr>
                <a:srgbClr val="2F6BFF"/>
              </a:buClr>
              <a:buSzPts val="900"/>
              <a:buFont typeface="Arial"/>
              <a:buNone/>
            </a:pPr>
            <a:r>
              <a:rPr b="1" lang="en-CA" sz="1000">
                <a:solidFill>
                  <a:srgbClr val="2F6BFF"/>
                </a:solidFill>
              </a:rPr>
              <a:t>E = R(game, question, player state)</a:t>
            </a:r>
            <a:r>
              <a:rPr b="1" lang="en-CA" sz="1200">
                <a:solidFill>
                  <a:srgbClr val="6B7A90"/>
                </a:solidFill>
              </a:rPr>
              <a:t> →</a:t>
            </a:r>
            <a:r>
              <a:rPr lang="en-CA" sz="1200">
                <a:solidFill>
                  <a:schemeClr val="dk1"/>
                </a:solidFill>
              </a:rPr>
              <a:t> </a:t>
            </a:r>
            <a:r>
              <a:rPr b="1" lang="en-CA" sz="1000">
                <a:solidFill>
                  <a:srgbClr val="7657D5"/>
                </a:solidFill>
              </a:rPr>
              <a:t> </a:t>
            </a:r>
            <a:r>
              <a:rPr b="1" i="0" lang="en-CA" sz="1000" u="none" cap="none" strike="noStrike">
                <a:solidFill>
                  <a:srgbClr val="7657D5"/>
                </a:solidFill>
                <a:latin typeface="Arial"/>
                <a:ea typeface="Arial"/>
                <a:cs typeface="Arial"/>
                <a:sym typeface="Arial"/>
              </a:rPr>
              <a:t>y = Qwen3-4B(question, state, E)  </a:t>
            </a:r>
            <a:r>
              <a:rPr b="1" lang="en-CA" sz="1200">
                <a:solidFill>
                  <a:srgbClr val="6B7A90"/>
                </a:solidFill>
              </a:rPr>
              <a:t>→  </a:t>
            </a:r>
            <a:r>
              <a:rPr b="1" lang="en-CA" sz="900">
                <a:solidFill>
                  <a:srgbClr val="C84D4D"/>
                </a:solidFill>
              </a:rPr>
              <a:t>accept supported answer / return safe fallback</a:t>
            </a:r>
            <a:endParaRPr b="1" sz="1200">
              <a:solidFill>
                <a:srgbClr val="6B7A90"/>
              </a:solidFill>
            </a:endParaRPr>
          </a:p>
        </p:txBody>
      </p:sp>
      <p:sp>
        <p:nvSpPr>
          <p:cNvPr id="193" name="Google Shape;193;p17"/>
          <p:cNvSpPr/>
          <p:nvPr/>
        </p:nvSpPr>
        <p:spPr>
          <a:xfrm>
            <a:off x="562356" y="4183380"/>
            <a:ext cx="7886700"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0"/>
              </a:buClr>
              <a:buSzPts val="600"/>
              <a:buFont typeface="Arial"/>
              <a:buNone/>
            </a:pPr>
            <a:r>
              <a:rPr b="0" i="0" lang="en-CA" sz="700" u="none" cap="none" strike="noStrike">
                <a:solidFill>
                  <a:srgbClr val="6B7A90"/>
                </a:solidFill>
                <a:latin typeface="Arial"/>
                <a:ea typeface="Arial"/>
                <a:cs typeface="Arial"/>
                <a:sym typeface="Arial"/>
              </a:rPr>
              <a:t>The same GameGuideAssistant interface supports both Stardew Valley and Terraria</a:t>
            </a:r>
            <a:r>
              <a:rPr lang="en-CA" sz="700">
                <a:solidFill>
                  <a:srgbClr val="6B7A90"/>
                </a:solidFill>
              </a:rPr>
              <a:t>, with</a:t>
            </a:r>
            <a:r>
              <a:rPr b="0" i="0" lang="en-CA" sz="700" u="none" cap="none" strike="noStrike">
                <a:solidFill>
                  <a:srgbClr val="6B7A90"/>
                </a:solidFill>
                <a:latin typeface="Arial"/>
                <a:ea typeface="Arial"/>
                <a:cs typeface="Arial"/>
                <a:sym typeface="Arial"/>
              </a:rPr>
              <a:t> only the plug-in data and rules chang</a:t>
            </a:r>
            <a:r>
              <a:rPr lang="en-CA" sz="700">
                <a:solidFill>
                  <a:srgbClr val="6B7A90"/>
                </a:solidFill>
              </a:rPr>
              <a:t>ing</a:t>
            </a:r>
            <a:r>
              <a:rPr b="0" i="0" lang="en-CA" sz="700" u="none" cap="none" strike="noStrike">
                <a:solidFill>
                  <a:srgbClr val="6B7A90"/>
                </a:solidFill>
                <a:latin typeface="Arial"/>
                <a:ea typeface="Arial"/>
                <a:cs typeface="Arial"/>
                <a:sym typeface="Arial"/>
              </a:rPr>
              <a:t>.</a:t>
            </a:r>
            <a:endParaRPr b="0" i="0" sz="700" u="none" cap="none" strike="noStrike">
              <a:solidFill>
                <a:srgbClr val="6B7A90"/>
              </a:solidFill>
              <a:latin typeface="Arial"/>
              <a:ea typeface="Arial"/>
              <a:cs typeface="Arial"/>
              <a:sym typeface="Arial"/>
            </a:endParaRPr>
          </a:p>
        </p:txBody>
      </p:sp>
      <p:sp>
        <p:nvSpPr>
          <p:cNvPr id="194" name="Google Shape;194;p17"/>
          <p:cNvSpPr txBox="1"/>
          <p:nvPr>
            <p:ph idx="4294967295" type="sldNum"/>
          </p:nvPr>
        </p:nvSpPr>
        <p:spPr>
          <a:xfrm>
            <a:off x="8545068" y="4917186"/>
            <a:ext cx="240030" cy="109728"/>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CA" sz="600" u="none" cap="none" strike="noStrike">
                <a:solidFill>
                  <a:srgbClr val="6B7A90"/>
                </a:solidFill>
                <a:latin typeface="Arial"/>
                <a:ea typeface="Arial"/>
                <a:cs typeface="Arial"/>
                <a:sym typeface="Arial"/>
              </a:rPr>
              <a:t>‹#›</a:t>
            </a:fld>
            <a:endParaRPr b="0" i="0" sz="600" u="none" cap="none" strike="noStrike">
              <a:solidFill>
                <a:srgbClr val="6B7A9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8"/>
          <p:cNvSpPr/>
          <p:nvPr/>
        </p:nvSpPr>
        <p:spPr>
          <a:xfrm>
            <a:off x="384048" y="192024"/>
            <a:ext cx="826389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900"/>
              <a:buFont typeface="Play"/>
              <a:buNone/>
            </a:pPr>
            <a:r>
              <a:rPr b="1" i="0" lang="en-CA" sz="1900" u="none" cap="none" strike="noStrike">
                <a:solidFill>
                  <a:srgbClr val="102A43"/>
                </a:solidFill>
                <a:latin typeface="Play"/>
                <a:ea typeface="Play"/>
                <a:cs typeface="Play"/>
                <a:sym typeface="Play"/>
              </a:rPr>
              <a:t>Model stack: one Qwen target, two draft tracks</a:t>
            </a:r>
            <a:endParaRPr b="0" i="0" sz="1900" u="none" cap="none" strike="noStrike">
              <a:solidFill>
                <a:schemeClr val="dk1"/>
              </a:solidFill>
              <a:latin typeface="Arial"/>
              <a:ea typeface="Arial"/>
              <a:cs typeface="Arial"/>
              <a:sym typeface="Arial"/>
            </a:endParaRPr>
          </a:p>
        </p:txBody>
      </p:sp>
      <p:sp>
        <p:nvSpPr>
          <p:cNvPr id="201" name="Google Shape;201;p18"/>
          <p:cNvSpPr/>
          <p:nvPr/>
        </p:nvSpPr>
        <p:spPr>
          <a:xfrm>
            <a:off x="397764" y="541782"/>
            <a:ext cx="819531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800"/>
              <a:buFont typeface="Arial"/>
              <a:buNone/>
            </a:pPr>
            <a:r>
              <a:rPr b="0" i="0" lang="en-CA" sz="800" u="none" cap="none" strike="noStrike">
                <a:solidFill>
                  <a:srgbClr val="6B7A90"/>
                </a:solidFill>
                <a:latin typeface="Arial"/>
                <a:ea typeface="Arial"/>
                <a:cs typeface="Arial"/>
                <a:sym typeface="Arial"/>
              </a:rPr>
              <a:t>The target controls answer quality; the draft models are evaluated only as acceleration mechanisms.</a:t>
            </a:r>
            <a:endParaRPr b="0" i="0" sz="800" u="none" cap="none" strike="noStrike">
              <a:solidFill>
                <a:schemeClr val="dk1"/>
              </a:solidFill>
              <a:latin typeface="Arial"/>
              <a:ea typeface="Arial"/>
              <a:cs typeface="Arial"/>
              <a:sym typeface="Arial"/>
            </a:endParaRPr>
          </a:p>
        </p:txBody>
      </p:sp>
      <p:sp>
        <p:nvSpPr>
          <p:cNvPr id="202" name="Google Shape;202;p18"/>
          <p:cNvSpPr/>
          <p:nvPr/>
        </p:nvSpPr>
        <p:spPr>
          <a:xfrm>
            <a:off x="397764" y="891540"/>
            <a:ext cx="2619756" cy="1645920"/>
          </a:xfrm>
          <a:prstGeom prst="roundRect">
            <a:avLst>
              <a:gd fmla="val 5000" name="adj"/>
            </a:avLst>
          </a:prstGeom>
          <a:solidFill>
            <a:srgbClr val="EAF1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3" name="Google Shape;203;p18"/>
          <p:cNvSpPr/>
          <p:nvPr/>
        </p:nvSpPr>
        <p:spPr>
          <a:xfrm>
            <a:off x="480060" y="973836"/>
            <a:ext cx="48006" cy="1481328"/>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4" name="Google Shape;204;p18"/>
          <p:cNvSpPr/>
          <p:nvPr/>
        </p:nvSpPr>
        <p:spPr>
          <a:xfrm>
            <a:off x="617220" y="1014984"/>
            <a:ext cx="2276856"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FF"/>
              </a:buClr>
              <a:buSzPts val="600"/>
              <a:buFont typeface="Arial"/>
              <a:buNone/>
            </a:pPr>
            <a:r>
              <a:rPr b="1" i="0" lang="en-CA" sz="600" u="none" cap="none" strike="noStrike">
                <a:solidFill>
                  <a:srgbClr val="2F6BFF"/>
                </a:solidFill>
                <a:latin typeface="Arial"/>
                <a:ea typeface="Arial"/>
                <a:cs typeface="Arial"/>
                <a:sym typeface="Arial"/>
              </a:rPr>
              <a:t>TARGET MODEL</a:t>
            </a:r>
            <a:endParaRPr b="0" i="0" sz="600" u="none" cap="none" strike="noStrike">
              <a:solidFill>
                <a:schemeClr val="dk1"/>
              </a:solidFill>
              <a:latin typeface="Arial"/>
              <a:ea typeface="Arial"/>
              <a:cs typeface="Arial"/>
              <a:sym typeface="Arial"/>
            </a:endParaRPr>
          </a:p>
        </p:txBody>
      </p:sp>
      <p:sp>
        <p:nvSpPr>
          <p:cNvPr id="205" name="Google Shape;205;p18"/>
          <p:cNvSpPr/>
          <p:nvPr/>
        </p:nvSpPr>
        <p:spPr>
          <a:xfrm>
            <a:off x="617220" y="1220724"/>
            <a:ext cx="22768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200"/>
              <a:buFont typeface="Play"/>
              <a:buNone/>
            </a:pPr>
            <a:r>
              <a:rPr b="1" i="0" lang="en-CA" sz="1200" u="none" cap="none" strike="noStrike">
                <a:solidFill>
                  <a:srgbClr val="102A43"/>
                </a:solidFill>
                <a:latin typeface="Play"/>
                <a:ea typeface="Play"/>
                <a:cs typeface="Play"/>
                <a:sym typeface="Play"/>
              </a:rPr>
              <a:t>Qwen3-4B</a:t>
            </a:r>
            <a:endParaRPr b="0" i="0" sz="1200" u="none" cap="none" strike="noStrike">
              <a:solidFill>
                <a:schemeClr val="dk1"/>
              </a:solidFill>
              <a:latin typeface="Arial"/>
              <a:ea typeface="Arial"/>
              <a:cs typeface="Arial"/>
              <a:sym typeface="Arial"/>
            </a:endParaRPr>
          </a:p>
        </p:txBody>
      </p:sp>
      <p:sp>
        <p:nvSpPr>
          <p:cNvPr id="206" name="Google Shape;206;p18"/>
          <p:cNvSpPr/>
          <p:nvPr/>
        </p:nvSpPr>
        <p:spPr>
          <a:xfrm>
            <a:off x="617220" y="1563624"/>
            <a:ext cx="2276856" cy="5074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700"/>
              <a:buFont typeface="Arial"/>
              <a:buNone/>
            </a:pPr>
            <a:r>
              <a:rPr b="1" i="0" lang="en-CA" sz="700" u="none" cap="none" strike="noStrike">
                <a:solidFill>
                  <a:srgbClr val="1E293B"/>
                </a:solidFill>
                <a:latin typeface="Arial"/>
                <a:ea typeface="Arial"/>
                <a:cs typeface="Arial"/>
                <a:sym typeface="Arial"/>
              </a:rPr>
              <a:t>4.0B parameters · 36 layers</a:t>
            </a:r>
            <a:endParaRPr b="0" i="0" sz="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E293B"/>
              </a:buClr>
              <a:buSzPts val="700"/>
              <a:buFont typeface="Arial"/>
              <a:buNone/>
            </a:pPr>
            <a:r>
              <a:rPr b="1" i="0" lang="en-CA" sz="700" u="none" cap="none" strike="noStrike">
                <a:solidFill>
                  <a:srgbClr val="1E293B"/>
                </a:solidFill>
                <a:latin typeface="Arial"/>
                <a:ea typeface="Arial"/>
                <a:cs typeface="Arial"/>
                <a:sym typeface="Arial"/>
              </a:rPr>
              <a:t>Hidden 2560 · 8 KV heads</a:t>
            </a:r>
            <a:endParaRPr b="0" i="0" sz="700" u="none" cap="none" strike="noStrike">
              <a:solidFill>
                <a:schemeClr val="dk1"/>
              </a:solidFill>
              <a:latin typeface="Arial"/>
              <a:ea typeface="Arial"/>
              <a:cs typeface="Arial"/>
              <a:sym typeface="Arial"/>
            </a:endParaRPr>
          </a:p>
        </p:txBody>
      </p:sp>
      <p:sp>
        <p:nvSpPr>
          <p:cNvPr id="207" name="Google Shape;207;p18"/>
          <p:cNvSpPr/>
          <p:nvPr/>
        </p:nvSpPr>
        <p:spPr>
          <a:xfrm>
            <a:off x="617220" y="2125980"/>
            <a:ext cx="2276856"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b="0" i="0" lang="en-CA" sz="600" u="none" cap="none" strike="noStrike">
                <a:solidFill>
                  <a:srgbClr val="6B7A90"/>
                </a:solidFill>
                <a:latin typeface="Arial"/>
                <a:ea typeface="Arial"/>
                <a:cs typeface="Arial"/>
                <a:sym typeface="Arial"/>
              </a:rPr>
              <a:t>Final grounded generator and verifier. The same fixed checkpoint is used for ungrounded and grounded quality comparisons.</a:t>
            </a:r>
            <a:endParaRPr b="0" i="0" sz="600" u="none" cap="none" strike="noStrike">
              <a:solidFill>
                <a:schemeClr val="dk1"/>
              </a:solidFill>
              <a:latin typeface="Arial"/>
              <a:ea typeface="Arial"/>
              <a:cs typeface="Arial"/>
              <a:sym typeface="Arial"/>
            </a:endParaRPr>
          </a:p>
        </p:txBody>
      </p:sp>
      <p:sp>
        <p:nvSpPr>
          <p:cNvPr id="208" name="Google Shape;208;p18"/>
          <p:cNvSpPr/>
          <p:nvPr/>
        </p:nvSpPr>
        <p:spPr>
          <a:xfrm>
            <a:off x="3250692" y="891540"/>
            <a:ext cx="2619756" cy="1645920"/>
          </a:xfrm>
          <a:prstGeom prst="roundRect">
            <a:avLst>
              <a:gd fmla="val 5000" name="adj"/>
            </a:avLst>
          </a:prstGeom>
          <a:solidFill>
            <a:srgbClr val="F0ECFF"/>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9" name="Google Shape;209;p18"/>
          <p:cNvSpPr/>
          <p:nvPr/>
        </p:nvSpPr>
        <p:spPr>
          <a:xfrm>
            <a:off x="3332988" y="973836"/>
            <a:ext cx="48006" cy="1481328"/>
          </a:xfrm>
          <a:prstGeom prst="rect">
            <a:avLst/>
          </a:prstGeom>
          <a:solidFill>
            <a:srgbClr val="7657D5"/>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0" name="Google Shape;210;p18"/>
          <p:cNvSpPr/>
          <p:nvPr/>
        </p:nvSpPr>
        <p:spPr>
          <a:xfrm>
            <a:off x="3470148" y="1014984"/>
            <a:ext cx="2276856"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57D5"/>
              </a:buClr>
              <a:buSzPts val="600"/>
              <a:buFont typeface="Arial"/>
              <a:buNone/>
            </a:pPr>
            <a:r>
              <a:rPr b="1" i="0" lang="en-CA" sz="600" u="none" cap="none" strike="noStrike">
                <a:solidFill>
                  <a:srgbClr val="7657D5"/>
                </a:solidFill>
                <a:latin typeface="Arial"/>
                <a:ea typeface="Arial"/>
                <a:cs typeface="Arial"/>
                <a:sym typeface="Arial"/>
              </a:rPr>
              <a:t>PRETRAINED DRAFT</a:t>
            </a:r>
            <a:endParaRPr b="0" i="0" sz="600" u="none" cap="none" strike="noStrike">
              <a:solidFill>
                <a:schemeClr val="dk1"/>
              </a:solidFill>
              <a:latin typeface="Arial"/>
              <a:ea typeface="Arial"/>
              <a:cs typeface="Arial"/>
              <a:sym typeface="Arial"/>
            </a:endParaRPr>
          </a:p>
        </p:txBody>
      </p:sp>
      <p:sp>
        <p:nvSpPr>
          <p:cNvPr id="211" name="Google Shape;211;p18"/>
          <p:cNvSpPr/>
          <p:nvPr/>
        </p:nvSpPr>
        <p:spPr>
          <a:xfrm>
            <a:off x="3470148" y="1220724"/>
            <a:ext cx="22768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200"/>
              <a:buFont typeface="Play"/>
              <a:buNone/>
            </a:pPr>
            <a:r>
              <a:rPr b="1" i="0" lang="en-CA" sz="1200" u="none" cap="none" strike="noStrike">
                <a:solidFill>
                  <a:srgbClr val="102A43"/>
                </a:solidFill>
                <a:latin typeface="Play"/>
                <a:ea typeface="Play"/>
                <a:cs typeface="Play"/>
                <a:sym typeface="Play"/>
              </a:rPr>
              <a:t>Qwen3-0.6B</a:t>
            </a:r>
            <a:endParaRPr b="0" i="0" sz="1200" u="none" cap="none" strike="noStrike">
              <a:solidFill>
                <a:schemeClr val="dk1"/>
              </a:solidFill>
              <a:latin typeface="Arial"/>
              <a:ea typeface="Arial"/>
              <a:cs typeface="Arial"/>
              <a:sym typeface="Arial"/>
            </a:endParaRPr>
          </a:p>
        </p:txBody>
      </p:sp>
      <p:sp>
        <p:nvSpPr>
          <p:cNvPr id="212" name="Google Shape;212;p18"/>
          <p:cNvSpPr/>
          <p:nvPr/>
        </p:nvSpPr>
        <p:spPr>
          <a:xfrm>
            <a:off x="3470148" y="1563624"/>
            <a:ext cx="2276856" cy="5074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700"/>
              <a:buFont typeface="Arial"/>
              <a:buNone/>
            </a:pPr>
            <a:r>
              <a:rPr b="1" i="0" lang="en-CA" sz="700" u="none" cap="none" strike="noStrike">
                <a:solidFill>
                  <a:srgbClr val="1E293B"/>
                </a:solidFill>
                <a:latin typeface="Arial"/>
                <a:ea typeface="Arial"/>
                <a:cs typeface="Arial"/>
                <a:sym typeface="Arial"/>
              </a:rPr>
              <a:t>0.6B parameters · 28 layers</a:t>
            </a:r>
            <a:endParaRPr b="0" i="0" sz="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E293B"/>
              </a:buClr>
              <a:buSzPts val="700"/>
              <a:buFont typeface="Arial"/>
              <a:buNone/>
            </a:pPr>
            <a:r>
              <a:rPr b="1" i="0" lang="en-CA" sz="700" u="none" cap="none" strike="noStrike">
                <a:solidFill>
                  <a:srgbClr val="1E293B"/>
                </a:solidFill>
                <a:latin typeface="Arial"/>
                <a:ea typeface="Arial"/>
                <a:cs typeface="Arial"/>
                <a:sym typeface="Arial"/>
              </a:rPr>
              <a:t>Hidden 1024 · 8 KV heads</a:t>
            </a:r>
            <a:endParaRPr b="0" i="0" sz="700" u="none" cap="none" strike="noStrike">
              <a:solidFill>
                <a:schemeClr val="dk1"/>
              </a:solidFill>
              <a:latin typeface="Arial"/>
              <a:ea typeface="Arial"/>
              <a:cs typeface="Arial"/>
              <a:sym typeface="Arial"/>
            </a:endParaRPr>
          </a:p>
        </p:txBody>
      </p:sp>
      <p:sp>
        <p:nvSpPr>
          <p:cNvPr id="213" name="Google Shape;213;p18"/>
          <p:cNvSpPr/>
          <p:nvPr/>
        </p:nvSpPr>
        <p:spPr>
          <a:xfrm>
            <a:off x="3470148" y="2125980"/>
            <a:ext cx="2276856"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b="0" i="0" lang="en-CA" sz="600" u="none" cap="none" strike="noStrike">
                <a:solidFill>
                  <a:srgbClr val="6B7A90"/>
                </a:solidFill>
                <a:latin typeface="Arial"/>
                <a:ea typeface="Arial"/>
                <a:cs typeface="Arial"/>
                <a:sym typeface="Arial"/>
              </a:rPr>
              <a:t>Reliable baseline with pretrained language competence. Runtime enforces the Qwen3-4B tokenizer and special-token contract.</a:t>
            </a:r>
            <a:endParaRPr b="0" i="0" sz="600" u="none" cap="none" strike="noStrike">
              <a:solidFill>
                <a:schemeClr val="dk1"/>
              </a:solidFill>
              <a:latin typeface="Arial"/>
              <a:ea typeface="Arial"/>
              <a:cs typeface="Arial"/>
              <a:sym typeface="Arial"/>
            </a:endParaRPr>
          </a:p>
        </p:txBody>
      </p:sp>
      <p:sp>
        <p:nvSpPr>
          <p:cNvPr id="214" name="Google Shape;214;p18"/>
          <p:cNvSpPr/>
          <p:nvPr/>
        </p:nvSpPr>
        <p:spPr>
          <a:xfrm>
            <a:off x="6103620" y="891540"/>
            <a:ext cx="2633472" cy="1645920"/>
          </a:xfrm>
          <a:prstGeom prst="roundRect">
            <a:avLst>
              <a:gd fmla="val 5000" name="adj"/>
            </a:avLst>
          </a:prstGeom>
          <a:solidFill>
            <a:srgbClr val="FFF1E2"/>
          </a:solidFill>
          <a:ln cap="flat" cmpd="sng" w="12700">
            <a:solidFill>
              <a:srgbClr val="E98B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5" name="Google Shape;215;p18"/>
          <p:cNvSpPr/>
          <p:nvPr/>
        </p:nvSpPr>
        <p:spPr>
          <a:xfrm>
            <a:off x="6185916" y="973836"/>
            <a:ext cx="48006" cy="1481328"/>
          </a:xfrm>
          <a:prstGeom prst="rect">
            <a:avLst/>
          </a:prstGeom>
          <a:solidFill>
            <a:srgbClr val="E98B2A"/>
          </a:solidFill>
          <a:ln cap="flat" cmpd="sng" w="12700">
            <a:solidFill>
              <a:srgbClr val="E98B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18"/>
          <p:cNvSpPr/>
          <p:nvPr/>
        </p:nvSpPr>
        <p:spPr>
          <a:xfrm>
            <a:off x="6323076" y="1014984"/>
            <a:ext cx="2290572"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8B2A"/>
              </a:buClr>
              <a:buSzPts val="600"/>
              <a:buFont typeface="Arial"/>
              <a:buNone/>
            </a:pPr>
            <a:r>
              <a:rPr b="1" i="0" lang="en-CA" sz="600" u="none" cap="none" strike="noStrike">
                <a:solidFill>
                  <a:srgbClr val="E98B2A"/>
                </a:solidFill>
                <a:latin typeface="Arial"/>
                <a:ea typeface="Arial"/>
                <a:cs typeface="Arial"/>
                <a:sym typeface="Arial"/>
              </a:rPr>
              <a:t>OUR MODEL</a:t>
            </a:r>
            <a:endParaRPr b="0" i="0" sz="600" u="none" cap="none" strike="noStrike">
              <a:solidFill>
                <a:schemeClr val="dk1"/>
              </a:solidFill>
              <a:latin typeface="Arial"/>
              <a:ea typeface="Arial"/>
              <a:cs typeface="Arial"/>
              <a:sym typeface="Arial"/>
            </a:endParaRPr>
          </a:p>
        </p:txBody>
      </p:sp>
      <p:sp>
        <p:nvSpPr>
          <p:cNvPr id="217" name="Google Shape;217;p18"/>
          <p:cNvSpPr/>
          <p:nvPr/>
        </p:nvSpPr>
        <p:spPr>
          <a:xfrm>
            <a:off x="6323076" y="1220724"/>
            <a:ext cx="22905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200"/>
              <a:buFont typeface="Play"/>
              <a:buNone/>
            </a:pPr>
            <a:r>
              <a:rPr b="1" i="0" lang="en-CA" sz="1200" u="none" cap="none" strike="noStrike">
                <a:solidFill>
                  <a:srgbClr val="102A43"/>
                </a:solidFill>
                <a:latin typeface="Play"/>
                <a:ea typeface="Play"/>
                <a:cs typeface="Play"/>
                <a:sym typeface="Play"/>
              </a:rPr>
              <a:t>TinyQwenDraft</a:t>
            </a:r>
            <a:endParaRPr b="0" i="0" sz="1200" u="none" cap="none" strike="noStrike">
              <a:solidFill>
                <a:schemeClr val="dk1"/>
              </a:solidFill>
              <a:latin typeface="Arial"/>
              <a:ea typeface="Arial"/>
              <a:cs typeface="Arial"/>
              <a:sym typeface="Arial"/>
            </a:endParaRPr>
          </a:p>
        </p:txBody>
      </p:sp>
      <p:sp>
        <p:nvSpPr>
          <p:cNvPr id="218" name="Google Shape;218;p18"/>
          <p:cNvSpPr/>
          <p:nvPr/>
        </p:nvSpPr>
        <p:spPr>
          <a:xfrm>
            <a:off x="6323076" y="1563624"/>
            <a:ext cx="2290572" cy="5074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700"/>
              <a:buFont typeface="Arial"/>
              <a:buNone/>
            </a:pPr>
            <a:r>
              <a:rPr b="1" i="0" lang="en-CA" sz="700" u="none" cap="none" strike="noStrike">
                <a:solidFill>
                  <a:srgbClr val="1E293B"/>
                </a:solidFill>
                <a:latin typeface="Arial"/>
                <a:ea typeface="Arial"/>
                <a:cs typeface="Arial"/>
                <a:sym typeface="Arial"/>
              </a:rPr>
              <a:t>43.55M parameters · 6 layers</a:t>
            </a:r>
            <a:endParaRPr b="0" i="0" sz="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E293B"/>
              </a:buClr>
              <a:buSzPts val="700"/>
              <a:buFont typeface="Arial"/>
              <a:buNone/>
            </a:pPr>
            <a:r>
              <a:rPr b="1" i="0" lang="en-CA" sz="700" u="none" cap="none" strike="noStrike">
                <a:solidFill>
                  <a:srgbClr val="1E293B"/>
                </a:solidFill>
                <a:latin typeface="Arial"/>
                <a:ea typeface="Arial"/>
                <a:cs typeface="Arial"/>
                <a:sym typeface="Arial"/>
              </a:rPr>
              <a:t>Hidden 256 · 4 heads / 2 KV heads</a:t>
            </a:r>
            <a:endParaRPr b="0" i="0" sz="700" u="none" cap="none" strike="noStrike">
              <a:solidFill>
                <a:schemeClr val="dk1"/>
              </a:solidFill>
              <a:latin typeface="Arial"/>
              <a:ea typeface="Arial"/>
              <a:cs typeface="Arial"/>
              <a:sym typeface="Arial"/>
            </a:endParaRPr>
          </a:p>
        </p:txBody>
      </p:sp>
      <p:sp>
        <p:nvSpPr>
          <p:cNvPr id="219" name="Google Shape;219;p18"/>
          <p:cNvSpPr/>
          <p:nvPr/>
        </p:nvSpPr>
        <p:spPr>
          <a:xfrm>
            <a:off x="6323076" y="2125980"/>
            <a:ext cx="2290572"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b="0" i="0" lang="en-CA" sz="600" u="none" cap="none" strike="noStrike">
                <a:solidFill>
                  <a:srgbClr val="6B7A90"/>
                </a:solidFill>
                <a:latin typeface="Arial"/>
                <a:ea typeface="Arial"/>
                <a:cs typeface="Arial"/>
                <a:sym typeface="Arial"/>
              </a:rPr>
              <a:t>Built from scratch in PyTorch: RMSNorm, RoPE, GQA, SwiGLU, tied embeddings, Qwen vocabulary, and persistent KV-cache support.</a:t>
            </a:r>
            <a:endParaRPr b="0" i="0" sz="600" u="none" cap="none" strike="noStrike">
              <a:solidFill>
                <a:schemeClr val="dk1"/>
              </a:solidFill>
              <a:latin typeface="Arial"/>
              <a:ea typeface="Arial"/>
              <a:cs typeface="Arial"/>
              <a:sym typeface="Arial"/>
            </a:endParaRPr>
          </a:p>
        </p:txBody>
      </p:sp>
      <p:sp>
        <p:nvSpPr>
          <p:cNvPr id="220" name="Google Shape;220;p18"/>
          <p:cNvSpPr/>
          <p:nvPr/>
        </p:nvSpPr>
        <p:spPr>
          <a:xfrm>
            <a:off x="397764" y="2743200"/>
            <a:ext cx="3977640" cy="1577340"/>
          </a:xfrm>
          <a:prstGeom prst="roundRect">
            <a:avLst>
              <a:gd fmla="val 5217"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1" name="Google Shape;221;p18"/>
          <p:cNvSpPr/>
          <p:nvPr/>
        </p:nvSpPr>
        <p:spPr>
          <a:xfrm>
            <a:off x="576072" y="2900934"/>
            <a:ext cx="154305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8B2A"/>
              </a:buClr>
              <a:buSzPts val="600"/>
              <a:buFont typeface="Arial"/>
              <a:buNone/>
            </a:pPr>
            <a:r>
              <a:rPr b="1" i="0" lang="en-CA" sz="600" u="none" cap="none" strike="noStrike">
                <a:solidFill>
                  <a:srgbClr val="E98B2A"/>
                </a:solidFill>
                <a:latin typeface="Arial"/>
                <a:ea typeface="Arial"/>
                <a:cs typeface="Arial"/>
                <a:sym typeface="Arial"/>
              </a:rPr>
              <a:t>HOW WE TRAINED OUR DRAFT</a:t>
            </a:r>
            <a:endParaRPr b="0" i="0" sz="600" u="none" cap="none" strike="noStrike">
              <a:solidFill>
                <a:schemeClr val="dk1"/>
              </a:solidFill>
              <a:latin typeface="Arial"/>
              <a:ea typeface="Arial"/>
              <a:cs typeface="Arial"/>
              <a:sym typeface="Arial"/>
            </a:endParaRPr>
          </a:p>
        </p:txBody>
      </p:sp>
      <p:sp>
        <p:nvSpPr>
          <p:cNvPr id="222" name="Google Shape;222;p18"/>
          <p:cNvSpPr/>
          <p:nvPr/>
        </p:nvSpPr>
        <p:spPr>
          <a:xfrm>
            <a:off x="462023" y="3189639"/>
            <a:ext cx="834000" cy="486300"/>
          </a:xfrm>
          <a:prstGeom prst="chevron">
            <a:avLst>
              <a:gd fmla="val 50000" name="adj"/>
            </a:avLst>
          </a:prstGeom>
          <a:solidFill>
            <a:srgbClr val="EEF2F7"/>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3" name="Google Shape;223;p18"/>
          <p:cNvSpPr/>
          <p:nvPr/>
        </p:nvSpPr>
        <p:spPr>
          <a:xfrm>
            <a:off x="624078" y="3332988"/>
            <a:ext cx="555498"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600"/>
              <a:buFont typeface="Arial"/>
              <a:buNone/>
            </a:pPr>
            <a:r>
              <a:rPr b="1" i="0" lang="en-CA" sz="600" u="none" cap="none" strike="noStrike">
                <a:solidFill>
                  <a:srgbClr val="102A43"/>
                </a:solidFill>
                <a:latin typeface="Arial"/>
                <a:ea typeface="Arial"/>
                <a:cs typeface="Arial"/>
                <a:sym typeface="Arial"/>
              </a:rPr>
              <a:t>Grounded prompt</a:t>
            </a:r>
            <a:endParaRPr b="0" i="0" sz="600" u="none" cap="none" strike="noStrike">
              <a:solidFill>
                <a:schemeClr val="dk1"/>
              </a:solidFill>
              <a:latin typeface="Arial"/>
              <a:ea typeface="Arial"/>
              <a:cs typeface="Arial"/>
              <a:sym typeface="Arial"/>
            </a:endParaRPr>
          </a:p>
        </p:txBody>
      </p:sp>
      <p:sp>
        <p:nvSpPr>
          <p:cNvPr id="224" name="Google Shape;224;p18"/>
          <p:cNvSpPr/>
          <p:nvPr/>
        </p:nvSpPr>
        <p:spPr>
          <a:xfrm>
            <a:off x="624078" y="3490722"/>
            <a:ext cx="555498"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0"/>
              </a:buClr>
              <a:buSzPts val="500"/>
              <a:buFont typeface="Arial"/>
              <a:buNone/>
            </a:pPr>
            <a:r>
              <a:rPr b="0" i="0" lang="en-CA" sz="500" u="none" cap="none" strike="noStrike">
                <a:solidFill>
                  <a:srgbClr val="6B7A90"/>
                </a:solidFill>
                <a:latin typeface="Arial"/>
                <a:ea typeface="Arial"/>
                <a:cs typeface="Arial"/>
                <a:sym typeface="Arial"/>
              </a:rPr>
              <a:t>retrieval output</a:t>
            </a:r>
            <a:endParaRPr b="0" i="0" sz="500" u="none" cap="none" strike="noStrike">
              <a:solidFill>
                <a:schemeClr val="dk1"/>
              </a:solidFill>
              <a:latin typeface="Arial"/>
              <a:ea typeface="Arial"/>
              <a:cs typeface="Arial"/>
              <a:sym typeface="Arial"/>
            </a:endParaRPr>
          </a:p>
        </p:txBody>
      </p:sp>
      <p:sp>
        <p:nvSpPr>
          <p:cNvPr id="225" name="Google Shape;225;p18"/>
          <p:cNvSpPr/>
          <p:nvPr/>
        </p:nvSpPr>
        <p:spPr>
          <a:xfrm>
            <a:off x="1300999" y="3189601"/>
            <a:ext cx="825000" cy="486300"/>
          </a:xfrm>
          <a:prstGeom prst="chevron">
            <a:avLst>
              <a:gd fmla="val 50000" name="adj"/>
            </a:avLst>
          </a:prstGeom>
          <a:solidFill>
            <a:srgbClr val="EEF2F7"/>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6" name="Google Shape;226;p18"/>
          <p:cNvSpPr/>
          <p:nvPr/>
        </p:nvSpPr>
        <p:spPr>
          <a:xfrm>
            <a:off x="1453896" y="3332988"/>
            <a:ext cx="555498"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600"/>
              <a:buFont typeface="Arial"/>
              <a:buNone/>
            </a:pPr>
            <a:r>
              <a:rPr b="1" i="0" lang="en-CA" sz="600" u="none" cap="none" strike="noStrike">
                <a:solidFill>
                  <a:srgbClr val="102A43"/>
                </a:solidFill>
                <a:latin typeface="Arial"/>
                <a:ea typeface="Arial"/>
                <a:cs typeface="Arial"/>
                <a:sym typeface="Arial"/>
              </a:rPr>
              <a:t>Qwen3-4B answer</a:t>
            </a:r>
            <a:endParaRPr b="0" i="0" sz="600" u="none" cap="none" strike="noStrike">
              <a:solidFill>
                <a:schemeClr val="dk1"/>
              </a:solidFill>
              <a:latin typeface="Arial"/>
              <a:ea typeface="Arial"/>
              <a:cs typeface="Arial"/>
              <a:sym typeface="Arial"/>
            </a:endParaRPr>
          </a:p>
        </p:txBody>
      </p:sp>
      <p:sp>
        <p:nvSpPr>
          <p:cNvPr id="227" name="Google Shape;227;p18"/>
          <p:cNvSpPr/>
          <p:nvPr/>
        </p:nvSpPr>
        <p:spPr>
          <a:xfrm>
            <a:off x="1453896" y="3490722"/>
            <a:ext cx="555498"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0"/>
              </a:buClr>
              <a:buSzPts val="500"/>
              <a:buFont typeface="Arial"/>
              <a:buNone/>
            </a:pPr>
            <a:r>
              <a:rPr b="0" i="0" lang="en-CA" sz="500" u="none" cap="none" strike="noStrike">
                <a:solidFill>
                  <a:srgbClr val="6B7A90"/>
                </a:solidFill>
                <a:latin typeface="Arial"/>
                <a:ea typeface="Arial"/>
                <a:cs typeface="Arial"/>
                <a:sym typeface="Arial"/>
              </a:rPr>
              <a:t>teacher continuation</a:t>
            </a:r>
            <a:endParaRPr b="0" i="0" sz="500" u="none" cap="none" strike="noStrike">
              <a:solidFill>
                <a:schemeClr val="dk1"/>
              </a:solidFill>
              <a:latin typeface="Arial"/>
              <a:ea typeface="Arial"/>
              <a:cs typeface="Arial"/>
              <a:sym typeface="Arial"/>
            </a:endParaRPr>
          </a:p>
        </p:txBody>
      </p:sp>
      <p:sp>
        <p:nvSpPr>
          <p:cNvPr id="228" name="Google Shape;228;p18"/>
          <p:cNvSpPr/>
          <p:nvPr/>
        </p:nvSpPr>
        <p:spPr>
          <a:xfrm>
            <a:off x="2111688" y="3189601"/>
            <a:ext cx="844200" cy="486300"/>
          </a:xfrm>
          <a:prstGeom prst="chevron">
            <a:avLst>
              <a:gd fmla="val 50000" name="adj"/>
            </a:avLst>
          </a:prstGeom>
          <a:solidFill>
            <a:srgbClr val="EEF2F7"/>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9" name="Google Shape;229;p18"/>
          <p:cNvSpPr/>
          <p:nvPr/>
        </p:nvSpPr>
        <p:spPr>
          <a:xfrm>
            <a:off x="2283714" y="3332988"/>
            <a:ext cx="555498"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600"/>
              <a:buFont typeface="Arial"/>
              <a:buNone/>
            </a:pPr>
            <a:r>
              <a:rPr b="1" i="0" lang="en-CA" sz="600" u="none" cap="none" strike="noStrike">
                <a:solidFill>
                  <a:srgbClr val="102A43"/>
                </a:solidFill>
                <a:latin typeface="Arial"/>
                <a:ea typeface="Arial"/>
                <a:cs typeface="Arial"/>
                <a:sym typeface="Arial"/>
              </a:rPr>
              <a:t>Validator </a:t>
            </a:r>
            <a:endParaRPr b="1" i="0" sz="600" u="none" cap="none" strike="noStrike">
              <a:solidFill>
                <a:srgbClr val="102A43"/>
              </a:solidFill>
              <a:latin typeface="Arial"/>
              <a:ea typeface="Arial"/>
              <a:cs typeface="Arial"/>
              <a:sym typeface="Arial"/>
            </a:endParaRPr>
          </a:p>
          <a:p>
            <a:pPr indent="0" lvl="0" marL="0" marR="0" rtl="0" algn="ctr">
              <a:spcBef>
                <a:spcPts val="0"/>
              </a:spcBef>
              <a:spcAft>
                <a:spcPts val="0"/>
              </a:spcAft>
              <a:buClr>
                <a:srgbClr val="102A43"/>
              </a:buClr>
              <a:buSzPts val="600"/>
              <a:buFont typeface="Arial"/>
              <a:buNone/>
            </a:pPr>
            <a:r>
              <a:rPr b="1" i="0" lang="en-CA" sz="600" u="none" cap="none" strike="noStrike">
                <a:solidFill>
                  <a:srgbClr val="102A43"/>
                </a:solidFill>
                <a:latin typeface="Arial"/>
                <a:ea typeface="Arial"/>
                <a:cs typeface="Arial"/>
                <a:sym typeface="Arial"/>
              </a:rPr>
              <a:t>pass</a:t>
            </a:r>
            <a:endParaRPr b="0" i="0" sz="600" u="none" cap="none" strike="noStrike">
              <a:solidFill>
                <a:schemeClr val="dk1"/>
              </a:solidFill>
              <a:latin typeface="Arial"/>
              <a:ea typeface="Arial"/>
              <a:cs typeface="Arial"/>
              <a:sym typeface="Arial"/>
            </a:endParaRPr>
          </a:p>
        </p:txBody>
      </p:sp>
      <p:sp>
        <p:nvSpPr>
          <p:cNvPr id="230" name="Google Shape;230;p18"/>
          <p:cNvSpPr/>
          <p:nvPr/>
        </p:nvSpPr>
        <p:spPr>
          <a:xfrm>
            <a:off x="2283714" y="3490722"/>
            <a:ext cx="555498"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0"/>
              </a:buClr>
              <a:buSzPts val="500"/>
              <a:buFont typeface="Arial"/>
              <a:buNone/>
            </a:pPr>
            <a:r>
              <a:rPr b="0" i="0" lang="en-CA" sz="500" u="none" cap="none" strike="noStrike">
                <a:solidFill>
                  <a:srgbClr val="6B7A90"/>
                </a:solidFill>
                <a:latin typeface="Arial"/>
                <a:ea typeface="Arial"/>
                <a:cs typeface="Arial"/>
                <a:sym typeface="Arial"/>
              </a:rPr>
              <a:t>filter bad samples</a:t>
            </a:r>
            <a:endParaRPr b="0" i="0" sz="500" u="none" cap="none" strike="noStrike">
              <a:solidFill>
                <a:schemeClr val="dk1"/>
              </a:solidFill>
              <a:latin typeface="Arial"/>
              <a:ea typeface="Arial"/>
              <a:cs typeface="Arial"/>
              <a:sym typeface="Arial"/>
            </a:endParaRPr>
          </a:p>
        </p:txBody>
      </p:sp>
      <p:sp>
        <p:nvSpPr>
          <p:cNvPr id="231" name="Google Shape;231;p18"/>
          <p:cNvSpPr/>
          <p:nvPr/>
        </p:nvSpPr>
        <p:spPr>
          <a:xfrm>
            <a:off x="2960626" y="3189601"/>
            <a:ext cx="825000" cy="486300"/>
          </a:xfrm>
          <a:prstGeom prst="chevron">
            <a:avLst>
              <a:gd fmla="val 50000" name="adj"/>
            </a:avLst>
          </a:prstGeom>
          <a:solidFill>
            <a:srgbClr val="FFF1E2"/>
          </a:solidFill>
          <a:ln cap="flat" cmpd="sng" w="12700">
            <a:solidFill>
              <a:srgbClr val="E98B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18"/>
          <p:cNvSpPr/>
          <p:nvPr/>
        </p:nvSpPr>
        <p:spPr>
          <a:xfrm>
            <a:off x="3113532" y="3332988"/>
            <a:ext cx="555498"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600"/>
              <a:buFont typeface="Arial"/>
              <a:buNone/>
            </a:pPr>
            <a:r>
              <a:rPr b="1" i="0" lang="en-CA" sz="600" u="none" cap="none" strike="noStrike">
                <a:solidFill>
                  <a:srgbClr val="102A43"/>
                </a:solidFill>
                <a:latin typeface="Arial"/>
                <a:ea typeface="Arial"/>
                <a:cs typeface="Arial"/>
                <a:sym typeface="Arial"/>
              </a:rPr>
              <a:t>Draft </a:t>
            </a:r>
            <a:endParaRPr b="1" i="0" sz="600" u="none" cap="none" strike="noStrike">
              <a:solidFill>
                <a:srgbClr val="102A43"/>
              </a:solidFill>
              <a:latin typeface="Arial"/>
              <a:ea typeface="Arial"/>
              <a:cs typeface="Arial"/>
              <a:sym typeface="Arial"/>
            </a:endParaRPr>
          </a:p>
          <a:p>
            <a:pPr indent="0" lvl="0" marL="0" marR="0" rtl="0" algn="ctr">
              <a:spcBef>
                <a:spcPts val="0"/>
              </a:spcBef>
              <a:spcAft>
                <a:spcPts val="0"/>
              </a:spcAft>
              <a:buClr>
                <a:srgbClr val="102A43"/>
              </a:buClr>
              <a:buSzPts val="600"/>
              <a:buFont typeface="Arial"/>
              <a:buNone/>
            </a:pPr>
            <a:r>
              <a:rPr b="1" i="0" lang="en-CA" sz="600" u="none" cap="none" strike="noStrike">
                <a:solidFill>
                  <a:srgbClr val="102A43"/>
                </a:solidFill>
                <a:latin typeface="Arial"/>
                <a:ea typeface="Arial"/>
                <a:cs typeface="Arial"/>
                <a:sym typeface="Arial"/>
              </a:rPr>
              <a:t>training</a:t>
            </a:r>
            <a:endParaRPr b="0" i="0" sz="600" u="none" cap="none" strike="noStrike">
              <a:solidFill>
                <a:schemeClr val="dk1"/>
              </a:solidFill>
              <a:latin typeface="Arial"/>
              <a:ea typeface="Arial"/>
              <a:cs typeface="Arial"/>
              <a:sym typeface="Arial"/>
            </a:endParaRPr>
          </a:p>
        </p:txBody>
      </p:sp>
      <p:sp>
        <p:nvSpPr>
          <p:cNvPr id="233" name="Google Shape;233;p18"/>
          <p:cNvSpPr/>
          <p:nvPr/>
        </p:nvSpPr>
        <p:spPr>
          <a:xfrm>
            <a:off x="3113532" y="3490722"/>
            <a:ext cx="555498"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0"/>
              </a:buClr>
              <a:buSzPts val="500"/>
              <a:buFont typeface="Arial"/>
              <a:buNone/>
            </a:pPr>
            <a:r>
              <a:rPr b="0" i="0" lang="en-CA" sz="500" u="none" cap="none" strike="noStrike">
                <a:solidFill>
                  <a:srgbClr val="6B7A90"/>
                </a:solidFill>
                <a:latin typeface="Arial"/>
                <a:ea typeface="Arial"/>
                <a:cs typeface="Arial"/>
                <a:sym typeface="Arial"/>
              </a:rPr>
              <a:t>assistant tokens only</a:t>
            </a:r>
            <a:endParaRPr b="0" i="0" sz="500" u="none" cap="none" strike="noStrike">
              <a:solidFill>
                <a:schemeClr val="dk1"/>
              </a:solidFill>
              <a:latin typeface="Arial"/>
              <a:ea typeface="Arial"/>
              <a:cs typeface="Arial"/>
              <a:sym typeface="Arial"/>
            </a:endParaRPr>
          </a:p>
        </p:txBody>
      </p:sp>
      <p:sp>
        <p:nvSpPr>
          <p:cNvPr id="234" name="Google Shape;234;p18"/>
          <p:cNvSpPr/>
          <p:nvPr/>
        </p:nvSpPr>
        <p:spPr>
          <a:xfrm>
            <a:off x="576072" y="3840480"/>
            <a:ext cx="360045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600"/>
              <a:buFont typeface="Arial"/>
              <a:buNone/>
            </a:pPr>
            <a:r>
              <a:rPr b="0" i="0" lang="en-CA" sz="600" u="none" cap="none" strike="noStrike">
                <a:solidFill>
                  <a:srgbClr val="1E293B"/>
                </a:solidFill>
                <a:latin typeface="Arial"/>
                <a:ea typeface="Arial"/>
                <a:cs typeface="Arial"/>
                <a:sym typeface="Arial"/>
              </a:rPr>
              <a:t>685 training continuations · 104 validation · 500 optimizer steps · BF16 · effective batch 8 · sequence length 2,048</a:t>
            </a:r>
            <a:endParaRPr b="0" i="0" sz="600" u="none" cap="none" strike="noStrike">
              <a:solidFill>
                <a:schemeClr val="dk1"/>
              </a:solidFill>
              <a:latin typeface="Arial"/>
              <a:ea typeface="Arial"/>
              <a:cs typeface="Arial"/>
              <a:sym typeface="Arial"/>
            </a:endParaRPr>
          </a:p>
        </p:txBody>
      </p:sp>
      <p:sp>
        <p:nvSpPr>
          <p:cNvPr id="235" name="Google Shape;235;p18"/>
          <p:cNvSpPr/>
          <p:nvPr/>
        </p:nvSpPr>
        <p:spPr>
          <a:xfrm>
            <a:off x="576072" y="4135374"/>
            <a:ext cx="3600450" cy="137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8B2A"/>
              </a:buClr>
              <a:buSzPts val="600"/>
              <a:buFont typeface="Arial"/>
              <a:buNone/>
            </a:pPr>
            <a:r>
              <a:rPr b="0" i="1" lang="en-CA" sz="600" u="none" cap="none" strike="noStrike">
                <a:solidFill>
                  <a:srgbClr val="E98B2A"/>
                </a:solidFill>
                <a:latin typeface="Arial"/>
                <a:ea typeface="Arial"/>
                <a:cs typeface="Arial"/>
                <a:sym typeface="Arial"/>
              </a:rPr>
              <a:t>Training loss is not the success criterion; accepted target tokens and end-to-end latency are.</a:t>
            </a:r>
            <a:endParaRPr b="0" i="0" sz="600" u="none" cap="none" strike="noStrike">
              <a:solidFill>
                <a:schemeClr val="dk1"/>
              </a:solidFill>
              <a:latin typeface="Arial"/>
              <a:ea typeface="Arial"/>
              <a:cs typeface="Arial"/>
              <a:sym typeface="Arial"/>
            </a:endParaRPr>
          </a:p>
        </p:txBody>
      </p:sp>
      <p:sp>
        <p:nvSpPr>
          <p:cNvPr id="236" name="Google Shape;236;p18"/>
          <p:cNvSpPr/>
          <p:nvPr/>
        </p:nvSpPr>
        <p:spPr>
          <a:xfrm>
            <a:off x="4560570" y="2743200"/>
            <a:ext cx="4176522" cy="1577340"/>
          </a:xfrm>
          <a:prstGeom prst="roundRect">
            <a:avLst>
              <a:gd fmla="val 5217"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18"/>
          <p:cNvSpPr/>
          <p:nvPr/>
        </p:nvSpPr>
        <p:spPr>
          <a:xfrm>
            <a:off x="4745736" y="2900934"/>
            <a:ext cx="174879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FF"/>
              </a:buClr>
              <a:buSzPts val="600"/>
              <a:buFont typeface="Arial"/>
              <a:buNone/>
            </a:pPr>
            <a:r>
              <a:rPr b="1" i="0" lang="en-CA" sz="600" u="none" cap="none" strike="noStrike">
                <a:solidFill>
                  <a:srgbClr val="2F6BFF"/>
                </a:solidFill>
                <a:latin typeface="Arial"/>
                <a:ea typeface="Arial"/>
                <a:cs typeface="Arial"/>
                <a:sym typeface="Arial"/>
              </a:rPr>
              <a:t>PERSISTENT-CACHE SPECULATIVE DECODING</a:t>
            </a:r>
            <a:endParaRPr b="0" i="0" sz="600" u="none" cap="none" strike="noStrike">
              <a:solidFill>
                <a:schemeClr val="dk1"/>
              </a:solidFill>
              <a:latin typeface="Arial"/>
              <a:ea typeface="Arial"/>
              <a:cs typeface="Arial"/>
              <a:sym typeface="Arial"/>
            </a:endParaRPr>
          </a:p>
        </p:txBody>
      </p:sp>
      <p:sp>
        <p:nvSpPr>
          <p:cNvPr id="238" name="Google Shape;238;p18"/>
          <p:cNvSpPr/>
          <p:nvPr/>
        </p:nvSpPr>
        <p:spPr>
          <a:xfrm>
            <a:off x="4752594" y="3223260"/>
            <a:ext cx="754380" cy="809244"/>
          </a:xfrm>
          <a:prstGeom prst="roundRect">
            <a:avLst>
              <a:gd fmla="val 10909" name="adj"/>
            </a:avLst>
          </a:prstGeom>
          <a:solidFill>
            <a:srgbClr val="F5F7FA"/>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9" name="Google Shape;239;p18"/>
          <p:cNvSpPr/>
          <p:nvPr/>
        </p:nvSpPr>
        <p:spPr>
          <a:xfrm>
            <a:off x="4821174" y="3332988"/>
            <a:ext cx="617220"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700"/>
              <a:buFont typeface="Play"/>
              <a:buNone/>
            </a:pPr>
            <a:r>
              <a:rPr b="1" i="0" lang="en-CA" sz="700" u="none" cap="none" strike="noStrike">
                <a:solidFill>
                  <a:srgbClr val="102A43"/>
                </a:solidFill>
                <a:latin typeface="Play"/>
                <a:ea typeface="Play"/>
                <a:cs typeface="Play"/>
                <a:sym typeface="Play"/>
              </a:rPr>
              <a:t>1  Prefill</a:t>
            </a:r>
            <a:endParaRPr b="0" i="0" sz="700" u="none" cap="none" strike="noStrike">
              <a:solidFill>
                <a:schemeClr val="dk1"/>
              </a:solidFill>
              <a:latin typeface="Arial"/>
              <a:ea typeface="Arial"/>
              <a:cs typeface="Arial"/>
              <a:sym typeface="Arial"/>
            </a:endParaRPr>
          </a:p>
        </p:txBody>
      </p:sp>
      <p:sp>
        <p:nvSpPr>
          <p:cNvPr id="240" name="Google Shape;240;p18"/>
          <p:cNvSpPr/>
          <p:nvPr/>
        </p:nvSpPr>
        <p:spPr>
          <a:xfrm>
            <a:off x="4821174" y="3552444"/>
            <a:ext cx="61722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500"/>
              <a:buFont typeface="Arial"/>
              <a:buNone/>
            </a:pPr>
            <a:r>
              <a:rPr b="0" i="0" lang="en-CA" sz="500" u="none" cap="none" strike="noStrike">
                <a:solidFill>
                  <a:srgbClr val="1E293B"/>
                </a:solidFill>
                <a:latin typeface="Arial"/>
                <a:ea typeface="Arial"/>
                <a:cs typeface="Arial"/>
                <a:sym typeface="Arial"/>
              </a:rPr>
              <a:t>Initialize draft and target KV caches once.</a:t>
            </a:r>
            <a:endParaRPr b="0" i="0" sz="500" u="none" cap="none" strike="noStrike">
              <a:solidFill>
                <a:schemeClr val="dk1"/>
              </a:solidFill>
              <a:latin typeface="Arial"/>
              <a:ea typeface="Arial"/>
              <a:cs typeface="Arial"/>
              <a:sym typeface="Arial"/>
            </a:endParaRPr>
          </a:p>
        </p:txBody>
      </p:sp>
      <p:cxnSp>
        <p:nvCxnSpPr>
          <p:cNvPr id="241" name="Google Shape;241;p18"/>
          <p:cNvCxnSpPr/>
          <p:nvPr/>
        </p:nvCxnSpPr>
        <p:spPr>
          <a:xfrm>
            <a:off x="5520690" y="3621024"/>
            <a:ext cx="89154" cy="0"/>
          </a:xfrm>
          <a:prstGeom prst="straightConnector1">
            <a:avLst/>
          </a:prstGeom>
          <a:noFill/>
          <a:ln cap="flat" cmpd="sng" w="22850">
            <a:solidFill>
              <a:srgbClr val="8B98A9"/>
            </a:solidFill>
            <a:prstDash val="solid"/>
            <a:round/>
            <a:headEnd len="sm" w="sm" type="none"/>
            <a:tailEnd len="med" w="med" type="triangle"/>
          </a:ln>
        </p:spPr>
      </p:cxnSp>
      <p:sp>
        <p:nvSpPr>
          <p:cNvPr id="242" name="Google Shape;242;p18"/>
          <p:cNvSpPr/>
          <p:nvPr/>
        </p:nvSpPr>
        <p:spPr>
          <a:xfrm>
            <a:off x="5637276" y="3223260"/>
            <a:ext cx="754380" cy="809244"/>
          </a:xfrm>
          <a:prstGeom prst="roundRect">
            <a:avLst>
              <a:gd fmla="val 10909" name="adj"/>
            </a:avLst>
          </a:prstGeom>
          <a:solidFill>
            <a:srgbClr val="F5F7FA"/>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3" name="Google Shape;243;p18"/>
          <p:cNvSpPr/>
          <p:nvPr/>
        </p:nvSpPr>
        <p:spPr>
          <a:xfrm>
            <a:off x="5705856" y="3332988"/>
            <a:ext cx="617220"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700"/>
              <a:buFont typeface="Play"/>
              <a:buNone/>
            </a:pPr>
            <a:r>
              <a:rPr b="1" i="0" lang="en-CA" sz="700" u="none" cap="none" strike="noStrike">
                <a:solidFill>
                  <a:srgbClr val="102A43"/>
                </a:solidFill>
                <a:latin typeface="Play"/>
                <a:ea typeface="Play"/>
                <a:cs typeface="Play"/>
                <a:sym typeface="Play"/>
              </a:rPr>
              <a:t>2  Propose γ</a:t>
            </a:r>
            <a:endParaRPr b="0" i="0" sz="700" u="none" cap="none" strike="noStrike">
              <a:solidFill>
                <a:schemeClr val="dk1"/>
              </a:solidFill>
              <a:latin typeface="Arial"/>
              <a:ea typeface="Arial"/>
              <a:cs typeface="Arial"/>
              <a:sym typeface="Arial"/>
            </a:endParaRPr>
          </a:p>
        </p:txBody>
      </p:sp>
      <p:sp>
        <p:nvSpPr>
          <p:cNvPr id="244" name="Google Shape;244;p18"/>
          <p:cNvSpPr/>
          <p:nvPr/>
        </p:nvSpPr>
        <p:spPr>
          <a:xfrm>
            <a:off x="5705856" y="3552444"/>
            <a:ext cx="61722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500"/>
              <a:buFont typeface="Arial"/>
              <a:buNone/>
            </a:pPr>
            <a:r>
              <a:rPr b="0" i="0" lang="en-CA" sz="500" u="none" cap="none" strike="noStrike">
                <a:solidFill>
                  <a:srgbClr val="1E293B"/>
                </a:solidFill>
                <a:latin typeface="Arial"/>
                <a:ea typeface="Arial"/>
                <a:cs typeface="Arial"/>
                <a:sym typeface="Arial"/>
              </a:rPr>
              <a:t>Draft predicts 2, 4, or 6 next tokens.</a:t>
            </a:r>
            <a:endParaRPr b="0" i="0" sz="500" u="none" cap="none" strike="noStrike">
              <a:solidFill>
                <a:schemeClr val="dk1"/>
              </a:solidFill>
              <a:latin typeface="Arial"/>
              <a:ea typeface="Arial"/>
              <a:cs typeface="Arial"/>
              <a:sym typeface="Arial"/>
            </a:endParaRPr>
          </a:p>
        </p:txBody>
      </p:sp>
      <p:cxnSp>
        <p:nvCxnSpPr>
          <p:cNvPr id="245" name="Google Shape;245;p18"/>
          <p:cNvCxnSpPr/>
          <p:nvPr/>
        </p:nvCxnSpPr>
        <p:spPr>
          <a:xfrm>
            <a:off x="6405372" y="3621024"/>
            <a:ext cx="89154" cy="0"/>
          </a:xfrm>
          <a:prstGeom prst="straightConnector1">
            <a:avLst/>
          </a:prstGeom>
          <a:noFill/>
          <a:ln cap="flat" cmpd="sng" w="22850">
            <a:solidFill>
              <a:srgbClr val="8B98A9"/>
            </a:solidFill>
            <a:prstDash val="solid"/>
            <a:round/>
            <a:headEnd len="sm" w="sm" type="none"/>
            <a:tailEnd len="med" w="med" type="triangle"/>
          </a:ln>
        </p:spPr>
      </p:cxnSp>
      <p:sp>
        <p:nvSpPr>
          <p:cNvPr id="246" name="Google Shape;246;p18"/>
          <p:cNvSpPr/>
          <p:nvPr/>
        </p:nvSpPr>
        <p:spPr>
          <a:xfrm>
            <a:off x="6521958" y="3223260"/>
            <a:ext cx="754380" cy="809244"/>
          </a:xfrm>
          <a:prstGeom prst="roundRect">
            <a:avLst>
              <a:gd fmla="val 10909" name="adj"/>
            </a:avLst>
          </a:prstGeom>
          <a:solidFill>
            <a:srgbClr val="F5F7FA"/>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18"/>
          <p:cNvSpPr/>
          <p:nvPr/>
        </p:nvSpPr>
        <p:spPr>
          <a:xfrm>
            <a:off x="6590538" y="3332988"/>
            <a:ext cx="617220"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700"/>
              <a:buFont typeface="Play"/>
              <a:buNone/>
            </a:pPr>
            <a:r>
              <a:rPr b="1" i="0" lang="en-CA" sz="700" u="none" cap="none" strike="noStrike">
                <a:solidFill>
                  <a:srgbClr val="102A43"/>
                </a:solidFill>
                <a:latin typeface="Play"/>
                <a:ea typeface="Play"/>
                <a:cs typeface="Play"/>
                <a:sym typeface="Play"/>
              </a:rPr>
              <a:t>3  Verify block</a:t>
            </a:r>
            <a:endParaRPr b="0" i="0" sz="700" u="none" cap="none" strike="noStrike">
              <a:solidFill>
                <a:schemeClr val="dk1"/>
              </a:solidFill>
              <a:latin typeface="Arial"/>
              <a:ea typeface="Arial"/>
              <a:cs typeface="Arial"/>
              <a:sym typeface="Arial"/>
            </a:endParaRPr>
          </a:p>
        </p:txBody>
      </p:sp>
      <p:sp>
        <p:nvSpPr>
          <p:cNvPr id="248" name="Google Shape;248;p18"/>
          <p:cNvSpPr/>
          <p:nvPr/>
        </p:nvSpPr>
        <p:spPr>
          <a:xfrm>
            <a:off x="6590538" y="3552444"/>
            <a:ext cx="61722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500"/>
              <a:buFont typeface="Arial"/>
              <a:buNone/>
            </a:pPr>
            <a:r>
              <a:rPr b="0" i="0" lang="en-CA" sz="500" u="none" cap="none" strike="noStrike">
                <a:solidFill>
                  <a:srgbClr val="1E293B"/>
                </a:solidFill>
                <a:latin typeface="Arial"/>
                <a:ea typeface="Arial"/>
                <a:cs typeface="Arial"/>
                <a:sym typeface="Arial"/>
              </a:rPr>
              <a:t>Qwen3-4B scores the proposed token block.</a:t>
            </a:r>
            <a:endParaRPr b="0" i="0" sz="500" u="none" cap="none" strike="noStrike">
              <a:solidFill>
                <a:schemeClr val="dk1"/>
              </a:solidFill>
              <a:latin typeface="Arial"/>
              <a:ea typeface="Arial"/>
              <a:cs typeface="Arial"/>
              <a:sym typeface="Arial"/>
            </a:endParaRPr>
          </a:p>
        </p:txBody>
      </p:sp>
      <p:cxnSp>
        <p:nvCxnSpPr>
          <p:cNvPr id="249" name="Google Shape;249;p18"/>
          <p:cNvCxnSpPr/>
          <p:nvPr/>
        </p:nvCxnSpPr>
        <p:spPr>
          <a:xfrm>
            <a:off x="7290054" y="3621024"/>
            <a:ext cx="89154" cy="0"/>
          </a:xfrm>
          <a:prstGeom prst="straightConnector1">
            <a:avLst/>
          </a:prstGeom>
          <a:noFill/>
          <a:ln cap="flat" cmpd="sng" w="22850">
            <a:solidFill>
              <a:srgbClr val="8B98A9"/>
            </a:solidFill>
            <a:prstDash val="solid"/>
            <a:round/>
            <a:headEnd len="sm" w="sm" type="none"/>
            <a:tailEnd len="med" w="med" type="triangle"/>
          </a:ln>
        </p:spPr>
      </p:cxnSp>
      <p:sp>
        <p:nvSpPr>
          <p:cNvPr id="250" name="Google Shape;250;p18"/>
          <p:cNvSpPr/>
          <p:nvPr/>
        </p:nvSpPr>
        <p:spPr>
          <a:xfrm>
            <a:off x="7406640" y="3223260"/>
            <a:ext cx="754380" cy="809244"/>
          </a:xfrm>
          <a:prstGeom prst="roundRect">
            <a:avLst>
              <a:gd fmla="val 10909" name="adj"/>
            </a:avLst>
          </a:prstGeom>
          <a:solidFill>
            <a:srgbClr val="FFF1E2"/>
          </a:solidFill>
          <a:ln cap="flat" cmpd="sng" w="12700">
            <a:solidFill>
              <a:srgbClr val="E98B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18"/>
          <p:cNvSpPr/>
          <p:nvPr/>
        </p:nvSpPr>
        <p:spPr>
          <a:xfrm>
            <a:off x="7475220" y="3332988"/>
            <a:ext cx="617220"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700"/>
              <a:buFont typeface="Play"/>
              <a:buNone/>
            </a:pPr>
            <a:r>
              <a:rPr b="1" i="0" lang="en-CA" sz="700" u="none" cap="none" strike="noStrike">
                <a:solidFill>
                  <a:srgbClr val="102A43"/>
                </a:solidFill>
                <a:latin typeface="Play"/>
                <a:ea typeface="Play"/>
                <a:cs typeface="Play"/>
                <a:sym typeface="Play"/>
              </a:rPr>
              <a:t>4  Commit / repair</a:t>
            </a:r>
            <a:endParaRPr b="0" i="0" sz="700" u="none" cap="none" strike="noStrike">
              <a:solidFill>
                <a:schemeClr val="dk1"/>
              </a:solidFill>
              <a:latin typeface="Arial"/>
              <a:ea typeface="Arial"/>
              <a:cs typeface="Arial"/>
              <a:sym typeface="Arial"/>
            </a:endParaRPr>
          </a:p>
        </p:txBody>
      </p:sp>
      <p:sp>
        <p:nvSpPr>
          <p:cNvPr id="252" name="Google Shape;252;p18"/>
          <p:cNvSpPr/>
          <p:nvPr/>
        </p:nvSpPr>
        <p:spPr>
          <a:xfrm>
            <a:off x="7475220" y="3552444"/>
            <a:ext cx="61722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500"/>
              <a:buFont typeface="Arial"/>
              <a:buNone/>
            </a:pPr>
            <a:r>
              <a:rPr b="0" i="0" lang="en-CA" sz="500" u="none" cap="none" strike="noStrike">
                <a:solidFill>
                  <a:srgbClr val="1E293B"/>
                </a:solidFill>
                <a:latin typeface="Arial"/>
                <a:ea typeface="Arial"/>
                <a:cs typeface="Arial"/>
                <a:sym typeface="Arial"/>
              </a:rPr>
              <a:t>Accept prefix; correct mismatch; crop and resync caches.</a:t>
            </a:r>
            <a:endParaRPr b="0" i="0" sz="500" u="none" cap="none" strike="noStrike">
              <a:solidFill>
                <a:schemeClr val="dk1"/>
              </a:solidFill>
              <a:latin typeface="Arial"/>
              <a:ea typeface="Arial"/>
              <a:cs typeface="Arial"/>
              <a:sym typeface="Arial"/>
            </a:endParaRPr>
          </a:p>
        </p:txBody>
      </p:sp>
      <p:sp>
        <p:nvSpPr>
          <p:cNvPr id="253" name="Google Shape;253;p18"/>
          <p:cNvSpPr/>
          <p:nvPr/>
        </p:nvSpPr>
        <p:spPr>
          <a:xfrm>
            <a:off x="4745736" y="4128516"/>
            <a:ext cx="3771900" cy="137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0"/>
              </a:buClr>
              <a:buSzPts val="600"/>
              <a:buFont typeface="Arial"/>
              <a:buNone/>
            </a:pPr>
            <a:r>
              <a:rPr b="0" i="1" lang="en-CA" sz="600" u="none" cap="none" strike="noStrike">
                <a:solidFill>
                  <a:srgbClr val="6B7A90"/>
                </a:solidFill>
                <a:latin typeface="Arial"/>
                <a:ea typeface="Arial"/>
                <a:cs typeface="Arial"/>
                <a:sym typeface="Arial"/>
              </a:rPr>
              <a:t>Exact mode is the correctness gate; block mode is the wall-clock benchmark.</a:t>
            </a:r>
            <a:endParaRPr b="0" i="0" sz="600" u="none" cap="none" strike="noStrike">
              <a:solidFill>
                <a:schemeClr val="dk1"/>
              </a:solidFill>
              <a:latin typeface="Arial"/>
              <a:ea typeface="Arial"/>
              <a:cs typeface="Arial"/>
              <a:sym typeface="Arial"/>
            </a:endParaRPr>
          </a:p>
        </p:txBody>
      </p:sp>
      <p:sp>
        <p:nvSpPr>
          <p:cNvPr id="254" name="Google Shape;254;p18"/>
          <p:cNvSpPr txBox="1"/>
          <p:nvPr>
            <p:ph idx="4294967295" type="sldNum"/>
          </p:nvPr>
        </p:nvSpPr>
        <p:spPr>
          <a:xfrm>
            <a:off x="8545068" y="4917186"/>
            <a:ext cx="240030" cy="109728"/>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CA" sz="600" u="none" cap="none" strike="noStrike">
                <a:solidFill>
                  <a:srgbClr val="6B7A90"/>
                </a:solidFill>
                <a:latin typeface="Arial"/>
                <a:ea typeface="Arial"/>
                <a:cs typeface="Arial"/>
                <a:sym typeface="Arial"/>
              </a:rPr>
              <a:t>‹#›</a:t>
            </a:fld>
            <a:endParaRPr b="0" i="0" sz="600" u="none" cap="none" strike="noStrike">
              <a:solidFill>
                <a:srgbClr val="6B7A9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9"/>
          <p:cNvSpPr/>
          <p:nvPr/>
        </p:nvSpPr>
        <p:spPr>
          <a:xfrm>
            <a:off x="384048" y="192024"/>
            <a:ext cx="826389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900"/>
              <a:buFont typeface="Play"/>
              <a:buNone/>
            </a:pPr>
            <a:r>
              <a:rPr b="1" i="0" lang="en-CA" sz="1700" u="none" cap="none" strike="noStrike">
                <a:solidFill>
                  <a:srgbClr val="102A43"/>
                </a:solidFill>
                <a:latin typeface="Play"/>
                <a:ea typeface="Play"/>
                <a:cs typeface="Play"/>
                <a:sym typeface="Play"/>
              </a:rPr>
              <a:t>Results: grounding works; speculative decoding did not speed up in our setting </a:t>
            </a:r>
            <a:endParaRPr b="0" i="0" sz="1700" u="none" cap="none" strike="noStrike">
              <a:solidFill>
                <a:schemeClr val="dk1"/>
              </a:solidFill>
              <a:latin typeface="Arial"/>
              <a:ea typeface="Arial"/>
              <a:cs typeface="Arial"/>
              <a:sym typeface="Arial"/>
            </a:endParaRPr>
          </a:p>
        </p:txBody>
      </p:sp>
      <p:sp>
        <p:nvSpPr>
          <p:cNvPr id="261" name="Google Shape;261;p19"/>
          <p:cNvSpPr/>
          <p:nvPr/>
        </p:nvSpPr>
        <p:spPr>
          <a:xfrm>
            <a:off x="397764" y="541782"/>
            <a:ext cx="819531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800"/>
              <a:buFont typeface="Arial"/>
              <a:buNone/>
            </a:pPr>
            <a:r>
              <a:rPr b="0" i="0" lang="en-CA" sz="800" u="none" cap="none" strike="noStrike">
                <a:solidFill>
                  <a:srgbClr val="6B7A90"/>
                </a:solidFill>
                <a:latin typeface="Arial"/>
                <a:ea typeface="Arial"/>
                <a:cs typeface="Arial"/>
                <a:sym typeface="Arial"/>
              </a:rPr>
              <a:t>Controlled final experiments used Qwen3-4B on an A100-SXM4-80GB with batch size one.</a:t>
            </a:r>
            <a:endParaRPr b="0" i="0" sz="800" u="none" cap="none" strike="noStrike">
              <a:solidFill>
                <a:schemeClr val="dk1"/>
              </a:solidFill>
              <a:latin typeface="Arial"/>
              <a:ea typeface="Arial"/>
              <a:cs typeface="Arial"/>
              <a:sym typeface="Arial"/>
            </a:endParaRPr>
          </a:p>
        </p:txBody>
      </p:sp>
      <p:sp>
        <p:nvSpPr>
          <p:cNvPr id="262" name="Google Shape;262;p19"/>
          <p:cNvSpPr/>
          <p:nvPr/>
        </p:nvSpPr>
        <p:spPr>
          <a:xfrm>
            <a:off x="397764" y="877824"/>
            <a:ext cx="4491990" cy="3861054"/>
          </a:xfrm>
          <a:prstGeom prst="roundRect">
            <a:avLst>
              <a:gd fmla="val 2131"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3" name="Google Shape;263;p19"/>
          <p:cNvSpPr/>
          <p:nvPr/>
        </p:nvSpPr>
        <p:spPr>
          <a:xfrm>
            <a:off x="589799" y="1049275"/>
            <a:ext cx="4205400" cy="12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FF"/>
              </a:buClr>
              <a:buSzPts val="600"/>
              <a:buFont typeface="Arial"/>
              <a:buNone/>
            </a:pPr>
            <a:r>
              <a:rPr b="1" i="0" lang="en-CA" sz="1100" u="none" cap="none" strike="noStrike">
                <a:solidFill>
                  <a:srgbClr val="2F6BFF"/>
                </a:solidFill>
                <a:latin typeface="Arial"/>
                <a:ea typeface="Arial"/>
                <a:cs typeface="Arial"/>
                <a:sym typeface="Arial"/>
              </a:rPr>
              <a:t>GROUNDED GENERATION · 38 HELD-OUT FOUND CASES</a:t>
            </a:r>
            <a:endParaRPr b="0" i="0" sz="1100" u="none" cap="none" strike="noStrike">
              <a:solidFill>
                <a:schemeClr val="dk1"/>
              </a:solidFill>
              <a:latin typeface="Arial"/>
              <a:ea typeface="Arial"/>
              <a:cs typeface="Arial"/>
              <a:sym typeface="Arial"/>
            </a:endParaRPr>
          </a:p>
        </p:txBody>
      </p:sp>
      <p:sp>
        <p:nvSpPr>
          <p:cNvPr id="264" name="Google Shape;264;p19"/>
          <p:cNvSpPr/>
          <p:nvPr/>
        </p:nvSpPr>
        <p:spPr>
          <a:xfrm>
            <a:off x="589788" y="1261872"/>
            <a:ext cx="401193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700"/>
              <a:buFont typeface="Arial"/>
              <a:buNone/>
            </a:pPr>
            <a:r>
              <a:rPr b="0" i="0" lang="en-CA" sz="700" u="none" cap="none" strike="noStrike">
                <a:solidFill>
                  <a:srgbClr val="6B7A90"/>
                </a:solidFill>
                <a:latin typeface="Arial"/>
                <a:ea typeface="Arial"/>
                <a:cs typeface="Arial"/>
                <a:sym typeface="Arial"/>
              </a:rPr>
              <a:t>Same Qwen3-4B checkpoint; only the evidence condition changes.</a:t>
            </a:r>
            <a:endParaRPr b="0" i="0" sz="700" u="none" cap="none" strike="noStrike">
              <a:solidFill>
                <a:schemeClr val="dk1"/>
              </a:solidFill>
              <a:latin typeface="Arial"/>
              <a:ea typeface="Arial"/>
              <a:cs typeface="Arial"/>
              <a:sym typeface="Arial"/>
            </a:endParaRPr>
          </a:p>
        </p:txBody>
      </p:sp>
      <p:sp>
        <p:nvSpPr>
          <p:cNvPr id="265" name="Google Shape;265;p19"/>
          <p:cNvSpPr/>
          <p:nvPr/>
        </p:nvSpPr>
        <p:spPr>
          <a:xfrm>
            <a:off x="589788" y="1543050"/>
            <a:ext cx="75438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Pass rate</a:t>
            </a:r>
            <a:endParaRPr b="0" i="0" sz="800" u="none" cap="none" strike="noStrike">
              <a:solidFill>
                <a:schemeClr val="dk1"/>
              </a:solidFill>
              <a:latin typeface="Arial"/>
              <a:ea typeface="Arial"/>
              <a:cs typeface="Arial"/>
              <a:sym typeface="Arial"/>
            </a:endParaRPr>
          </a:p>
        </p:txBody>
      </p:sp>
      <p:sp>
        <p:nvSpPr>
          <p:cNvPr id="266" name="Google Shape;266;p19"/>
          <p:cNvSpPr/>
          <p:nvPr/>
        </p:nvSpPr>
        <p:spPr>
          <a:xfrm>
            <a:off x="589788" y="1769364"/>
            <a:ext cx="113157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700"/>
              <a:buFont typeface="Arial"/>
              <a:buNone/>
            </a:pPr>
            <a:r>
              <a:rPr b="0" i="0" lang="en-CA" sz="700" u="none" cap="none" strike="noStrike">
                <a:solidFill>
                  <a:srgbClr val="1E293B"/>
                </a:solidFill>
                <a:latin typeface="Arial"/>
                <a:ea typeface="Arial"/>
                <a:cs typeface="Arial"/>
                <a:sym typeface="Arial"/>
              </a:rPr>
              <a:t>Question-only</a:t>
            </a:r>
            <a:endParaRPr b="0" i="0" sz="700" u="none" cap="none" strike="noStrike">
              <a:solidFill>
                <a:schemeClr val="dk1"/>
              </a:solidFill>
              <a:latin typeface="Arial"/>
              <a:ea typeface="Arial"/>
              <a:cs typeface="Arial"/>
              <a:sym typeface="Arial"/>
            </a:endParaRPr>
          </a:p>
        </p:txBody>
      </p:sp>
      <p:sp>
        <p:nvSpPr>
          <p:cNvPr id="267" name="Google Shape;267;p19"/>
          <p:cNvSpPr/>
          <p:nvPr/>
        </p:nvSpPr>
        <p:spPr>
          <a:xfrm>
            <a:off x="1741932" y="1783080"/>
            <a:ext cx="2571750" cy="164592"/>
          </a:xfrm>
          <a:prstGeom prst="roundRect">
            <a:avLst>
              <a:gd fmla="val 41667" name="adj"/>
            </a:avLst>
          </a:prstGeom>
          <a:solidFill>
            <a:srgbClr val="E6EBF2"/>
          </a:solidFill>
          <a:ln cap="flat" cmpd="sng" w="12700">
            <a:solidFill>
              <a:srgbClr val="E6EB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19"/>
          <p:cNvSpPr/>
          <p:nvPr/>
        </p:nvSpPr>
        <p:spPr>
          <a:xfrm>
            <a:off x="1741932" y="1783080"/>
            <a:ext cx="473202" cy="164592"/>
          </a:xfrm>
          <a:prstGeom prst="roundRect">
            <a:avLst>
              <a:gd fmla="val 41667" name="adj"/>
            </a:avLst>
          </a:prstGeom>
          <a:solidFill>
            <a:srgbClr val="8B98A9"/>
          </a:solidFill>
          <a:ln cap="flat" cmpd="sng" w="12700">
            <a:solidFill>
              <a:srgbClr val="8B98A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9" name="Google Shape;269;p19"/>
          <p:cNvSpPr/>
          <p:nvPr/>
        </p:nvSpPr>
        <p:spPr>
          <a:xfrm>
            <a:off x="4382262" y="1769364"/>
            <a:ext cx="466344" cy="1508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8A9"/>
              </a:buClr>
              <a:buSzPts val="700"/>
              <a:buFont typeface="Arial"/>
              <a:buNone/>
            </a:pPr>
            <a:r>
              <a:rPr b="1" i="0" lang="en-CA" sz="700" u="none" cap="none" strike="noStrike">
                <a:solidFill>
                  <a:srgbClr val="8B98A9"/>
                </a:solidFill>
                <a:latin typeface="Arial"/>
                <a:ea typeface="Arial"/>
                <a:cs typeface="Arial"/>
                <a:sym typeface="Arial"/>
              </a:rPr>
              <a:t>18.4%</a:t>
            </a:r>
            <a:endParaRPr b="0" i="0" sz="700" u="none" cap="none" strike="noStrike">
              <a:solidFill>
                <a:schemeClr val="dk1"/>
              </a:solidFill>
              <a:latin typeface="Arial"/>
              <a:ea typeface="Arial"/>
              <a:cs typeface="Arial"/>
              <a:sym typeface="Arial"/>
            </a:endParaRPr>
          </a:p>
        </p:txBody>
      </p:sp>
      <p:sp>
        <p:nvSpPr>
          <p:cNvPr id="270" name="Google Shape;270;p19"/>
          <p:cNvSpPr/>
          <p:nvPr/>
        </p:nvSpPr>
        <p:spPr>
          <a:xfrm>
            <a:off x="589788" y="2036826"/>
            <a:ext cx="113157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700"/>
              <a:buFont typeface="Arial"/>
              <a:buNone/>
            </a:pPr>
            <a:r>
              <a:rPr b="0" i="0" lang="en-CA" sz="700" u="none" cap="none" strike="noStrike">
                <a:solidFill>
                  <a:srgbClr val="1E293B"/>
                </a:solidFill>
                <a:latin typeface="Arial"/>
                <a:ea typeface="Arial"/>
                <a:cs typeface="Arial"/>
                <a:sym typeface="Arial"/>
              </a:rPr>
              <a:t>Grounded RAG</a:t>
            </a:r>
            <a:endParaRPr b="0" i="0" sz="700" u="none" cap="none" strike="noStrike">
              <a:solidFill>
                <a:schemeClr val="dk1"/>
              </a:solidFill>
              <a:latin typeface="Arial"/>
              <a:ea typeface="Arial"/>
              <a:cs typeface="Arial"/>
              <a:sym typeface="Arial"/>
            </a:endParaRPr>
          </a:p>
        </p:txBody>
      </p:sp>
      <p:sp>
        <p:nvSpPr>
          <p:cNvPr id="271" name="Google Shape;271;p19"/>
          <p:cNvSpPr/>
          <p:nvPr/>
        </p:nvSpPr>
        <p:spPr>
          <a:xfrm>
            <a:off x="1741932" y="2050542"/>
            <a:ext cx="2571750" cy="164592"/>
          </a:xfrm>
          <a:prstGeom prst="roundRect">
            <a:avLst>
              <a:gd fmla="val 41667" name="adj"/>
            </a:avLst>
          </a:prstGeom>
          <a:solidFill>
            <a:srgbClr val="E6EBF2"/>
          </a:solidFill>
          <a:ln cap="flat" cmpd="sng" w="12700">
            <a:solidFill>
              <a:srgbClr val="E6EB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2" name="Google Shape;272;p19"/>
          <p:cNvSpPr/>
          <p:nvPr/>
        </p:nvSpPr>
        <p:spPr>
          <a:xfrm>
            <a:off x="1741932" y="2050542"/>
            <a:ext cx="1759077" cy="164592"/>
          </a:xfrm>
          <a:prstGeom prst="roundRect">
            <a:avLst>
              <a:gd fmla="val 41667" name="adj"/>
            </a:avLst>
          </a:prstGeom>
          <a:solidFill>
            <a:srgbClr val="2F6B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3" name="Google Shape;273;p19"/>
          <p:cNvSpPr/>
          <p:nvPr/>
        </p:nvSpPr>
        <p:spPr>
          <a:xfrm>
            <a:off x="4382262" y="2036826"/>
            <a:ext cx="466344" cy="1508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F6BFF"/>
              </a:buClr>
              <a:buSzPts val="700"/>
              <a:buFont typeface="Arial"/>
              <a:buNone/>
            </a:pPr>
            <a:r>
              <a:rPr b="1" i="0" lang="en-CA" sz="700" u="none" cap="none" strike="noStrike">
                <a:solidFill>
                  <a:srgbClr val="2F6BFF"/>
                </a:solidFill>
                <a:latin typeface="Arial"/>
                <a:ea typeface="Arial"/>
                <a:cs typeface="Arial"/>
                <a:sym typeface="Arial"/>
              </a:rPr>
              <a:t>68.4%</a:t>
            </a:r>
            <a:endParaRPr b="0" i="0" sz="700" u="none" cap="none" strike="noStrike">
              <a:solidFill>
                <a:schemeClr val="dk1"/>
              </a:solidFill>
              <a:latin typeface="Arial"/>
              <a:ea typeface="Arial"/>
              <a:cs typeface="Arial"/>
              <a:sym typeface="Arial"/>
            </a:endParaRPr>
          </a:p>
        </p:txBody>
      </p:sp>
      <p:sp>
        <p:nvSpPr>
          <p:cNvPr id="274" name="Google Shape;274;p19"/>
          <p:cNvSpPr/>
          <p:nvPr/>
        </p:nvSpPr>
        <p:spPr>
          <a:xfrm>
            <a:off x="3791171" y="2050500"/>
            <a:ext cx="493800" cy="164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F6BFF"/>
              </a:buClr>
              <a:buSzPts val="800"/>
              <a:buFont typeface="Play"/>
              <a:buNone/>
            </a:pPr>
            <a:r>
              <a:rPr b="1" i="0" lang="en-CA" sz="800" u="none" cap="none" strike="noStrike">
                <a:solidFill>
                  <a:srgbClr val="2F6BFF"/>
                </a:solidFill>
                <a:latin typeface="Play"/>
                <a:ea typeface="Play"/>
                <a:cs typeface="Play"/>
                <a:sym typeface="Play"/>
              </a:rPr>
              <a:t>+50.0 pp</a:t>
            </a:r>
            <a:endParaRPr b="0" i="0" sz="800" u="none" cap="none" strike="noStrike">
              <a:solidFill>
                <a:schemeClr val="dk1"/>
              </a:solidFill>
              <a:latin typeface="Arial"/>
              <a:ea typeface="Arial"/>
              <a:cs typeface="Arial"/>
              <a:sym typeface="Arial"/>
            </a:endParaRPr>
          </a:p>
        </p:txBody>
      </p:sp>
      <p:sp>
        <p:nvSpPr>
          <p:cNvPr id="275" name="Google Shape;275;p19"/>
          <p:cNvSpPr/>
          <p:nvPr/>
        </p:nvSpPr>
        <p:spPr>
          <a:xfrm>
            <a:off x="589788" y="2427732"/>
            <a:ext cx="150876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Required-fact coverage</a:t>
            </a:r>
            <a:endParaRPr b="0" i="0" sz="800" u="none" cap="none" strike="noStrike">
              <a:solidFill>
                <a:schemeClr val="dk1"/>
              </a:solidFill>
              <a:latin typeface="Arial"/>
              <a:ea typeface="Arial"/>
              <a:cs typeface="Arial"/>
              <a:sym typeface="Arial"/>
            </a:endParaRPr>
          </a:p>
        </p:txBody>
      </p:sp>
      <p:sp>
        <p:nvSpPr>
          <p:cNvPr id="276" name="Google Shape;276;p19"/>
          <p:cNvSpPr/>
          <p:nvPr/>
        </p:nvSpPr>
        <p:spPr>
          <a:xfrm>
            <a:off x="589788" y="2654046"/>
            <a:ext cx="113157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700"/>
              <a:buFont typeface="Arial"/>
              <a:buNone/>
            </a:pPr>
            <a:r>
              <a:rPr b="0" i="0" lang="en-CA" sz="700" u="none" cap="none" strike="noStrike">
                <a:solidFill>
                  <a:srgbClr val="1E293B"/>
                </a:solidFill>
                <a:latin typeface="Arial"/>
                <a:ea typeface="Arial"/>
                <a:cs typeface="Arial"/>
                <a:sym typeface="Arial"/>
              </a:rPr>
              <a:t>Question-only</a:t>
            </a:r>
            <a:endParaRPr b="0" i="0" sz="700" u="none" cap="none" strike="noStrike">
              <a:solidFill>
                <a:schemeClr val="dk1"/>
              </a:solidFill>
              <a:latin typeface="Arial"/>
              <a:ea typeface="Arial"/>
              <a:cs typeface="Arial"/>
              <a:sym typeface="Arial"/>
            </a:endParaRPr>
          </a:p>
        </p:txBody>
      </p:sp>
      <p:sp>
        <p:nvSpPr>
          <p:cNvPr id="277" name="Google Shape;277;p19"/>
          <p:cNvSpPr/>
          <p:nvPr/>
        </p:nvSpPr>
        <p:spPr>
          <a:xfrm>
            <a:off x="1741932" y="2667762"/>
            <a:ext cx="2571750" cy="164592"/>
          </a:xfrm>
          <a:prstGeom prst="roundRect">
            <a:avLst>
              <a:gd fmla="val 41667" name="adj"/>
            </a:avLst>
          </a:prstGeom>
          <a:solidFill>
            <a:srgbClr val="E6EBF2"/>
          </a:solidFill>
          <a:ln cap="flat" cmpd="sng" w="12700">
            <a:solidFill>
              <a:srgbClr val="E6EB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8" name="Google Shape;278;p19"/>
          <p:cNvSpPr/>
          <p:nvPr/>
        </p:nvSpPr>
        <p:spPr>
          <a:xfrm>
            <a:off x="1741932" y="2667762"/>
            <a:ext cx="529781" cy="164592"/>
          </a:xfrm>
          <a:prstGeom prst="roundRect">
            <a:avLst>
              <a:gd fmla="val 41667" name="adj"/>
            </a:avLst>
          </a:prstGeom>
          <a:solidFill>
            <a:srgbClr val="8B98A9"/>
          </a:solidFill>
          <a:ln cap="flat" cmpd="sng" w="12700">
            <a:solidFill>
              <a:srgbClr val="8B98A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9" name="Google Shape;279;p19"/>
          <p:cNvSpPr/>
          <p:nvPr/>
        </p:nvSpPr>
        <p:spPr>
          <a:xfrm>
            <a:off x="4382262" y="2654046"/>
            <a:ext cx="466344" cy="1508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8A9"/>
              </a:buClr>
              <a:buSzPts val="700"/>
              <a:buFont typeface="Arial"/>
              <a:buNone/>
            </a:pPr>
            <a:r>
              <a:rPr b="1" i="0" lang="en-CA" sz="700" u="none" cap="none" strike="noStrike">
                <a:solidFill>
                  <a:srgbClr val="8B98A9"/>
                </a:solidFill>
                <a:latin typeface="Arial"/>
                <a:ea typeface="Arial"/>
                <a:cs typeface="Arial"/>
                <a:sym typeface="Arial"/>
              </a:rPr>
              <a:t>20.6%</a:t>
            </a:r>
            <a:endParaRPr b="0" i="0" sz="700" u="none" cap="none" strike="noStrike">
              <a:solidFill>
                <a:schemeClr val="dk1"/>
              </a:solidFill>
              <a:latin typeface="Arial"/>
              <a:ea typeface="Arial"/>
              <a:cs typeface="Arial"/>
              <a:sym typeface="Arial"/>
            </a:endParaRPr>
          </a:p>
        </p:txBody>
      </p:sp>
      <p:sp>
        <p:nvSpPr>
          <p:cNvPr id="280" name="Google Shape;280;p19"/>
          <p:cNvSpPr/>
          <p:nvPr/>
        </p:nvSpPr>
        <p:spPr>
          <a:xfrm>
            <a:off x="589788" y="2921508"/>
            <a:ext cx="113157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700"/>
              <a:buFont typeface="Arial"/>
              <a:buNone/>
            </a:pPr>
            <a:r>
              <a:rPr b="0" i="0" lang="en-CA" sz="700" u="none" cap="none" strike="noStrike">
                <a:solidFill>
                  <a:srgbClr val="1E293B"/>
                </a:solidFill>
                <a:latin typeface="Arial"/>
                <a:ea typeface="Arial"/>
                <a:cs typeface="Arial"/>
                <a:sym typeface="Arial"/>
              </a:rPr>
              <a:t>Grounded RAG</a:t>
            </a:r>
            <a:endParaRPr b="0" i="0" sz="700" u="none" cap="none" strike="noStrike">
              <a:solidFill>
                <a:schemeClr val="dk1"/>
              </a:solidFill>
              <a:latin typeface="Arial"/>
              <a:ea typeface="Arial"/>
              <a:cs typeface="Arial"/>
              <a:sym typeface="Arial"/>
            </a:endParaRPr>
          </a:p>
        </p:txBody>
      </p:sp>
      <p:sp>
        <p:nvSpPr>
          <p:cNvPr id="281" name="Google Shape;281;p19"/>
          <p:cNvSpPr/>
          <p:nvPr/>
        </p:nvSpPr>
        <p:spPr>
          <a:xfrm>
            <a:off x="1741932" y="2935224"/>
            <a:ext cx="2571750" cy="164592"/>
          </a:xfrm>
          <a:prstGeom prst="roundRect">
            <a:avLst>
              <a:gd fmla="val 41667" name="adj"/>
            </a:avLst>
          </a:prstGeom>
          <a:solidFill>
            <a:srgbClr val="E6EBF2"/>
          </a:solidFill>
          <a:ln cap="flat" cmpd="sng" w="12700">
            <a:solidFill>
              <a:srgbClr val="E6EB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2" name="Google Shape;282;p19"/>
          <p:cNvSpPr/>
          <p:nvPr/>
        </p:nvSpPr>
        <p:spPr>
          <a:xfrm>
            <a:off x="1741932" y="2935224"/>
            <a:ext cx="1951958" cy="164592"/>
          </a:xfrm>
          <a:prstGeom prst="roundRect">
            <a:avLst>
              <a:gd fmla="val 41667" name="adj"/>
            </a:avLst>
          </a:prstGeom>
          <a:solidFill>
            <a:srgbClr val="2F6B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3" name="Google Shape;283;p19"/>
          <p:cNvSpPr/>
          <p:nvPr/>
        </p:nvSpPr>
        <p:spPr>
          <a:xfrm>
            <a:off x="4382262" y="2921508"/>
            <a:ext cx="466344" cy="1508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F6BFF"/>
              </a:buClr>
              <a:buSzPts val="700"/>
              <a:buFont typeface="Arial"/>
              <a:buNone/>
            </a:pPr>
            <a:r>
              <a:rPr b="1" i="0" lang="en-CA" sz="700" u="none" cap="none" strike="noStrike">
                <a:solidFill>
                  <a:srgbClr val="2F6BFF"/>
                </a:solidFill>
                <a:latin typeface="Arial"/>
                <a:ea typeface="Arial"/>
                <a:cs typeface="Arial"/>
                <a:sym typeface="Arial"/>
              </a:rPr>
              <a:t>75.9%</a:t>
            </a:r>
            <a:endParaRPr b="0" i="0" sz="700" u="none" cap="none" strike="noStrike">
              <a:solidFill>
                <a:schemeClr val="dk1"/>
              </a:solidFill>
              <a:latin typeface="Arial"/>
              <a:ea typeface="Arial"/>
              <a:cs typeface="Arial"/>
              <a:sym typeface="Arial"/>
            </a:endParaRPr>
          </a:p>
        </p:txBody>
      </p:sp>
      <p:sp>
        <p:nvSpPr>
          <p:cNvPr id="284" name="Google Shape;284;p19"/>
          <p:cNvSpPr/>
          <p:nvPr/>
        </p:nvSpPr>
        <p:spPr>
          <a:xfrm>
            <a:off x="3830184" y="2918019"/>
            <a:ext cx="493800" cy="164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F6BFF"/>
              </a:buClr>
              <a:buSzPts val="800"/>
              <a:buFont typeface="Play"/>
              <a:buNone/>
            </a:pPr>
            <a:r>
              <a:rPr b="1" i="0" lang="en-CA" sz="800" u="none" cap="none" strike="noStrike">
                <a:solidFill>
                  <a:srgbClr val="2F6BFF"/>
                </a:solidFill>
                <a:latin typeface="Play"/>
                <a:ea typeface="Play"/>
                <a:cs typeface="Play"/>
                <a:sym typeface="Play"/>
              </a:rPr>
              <a:t>+55.3 pp</a:t>
            </a:r>
            <a:endParaRPr b="0" i="0" sz="800" u="none" cap="none" strike="noStrike">
              <a:solidFill>
                <a:schemeClr val="dk1"/>
              </a:solidFill>
              <a:latin typeface="Arial"/>
              <a:ea typeface="Arial"/>
              <a:cs typeface="Arial"/>
              <a:sym typeface="Arial"/>
            </a:endParaRPr>
          </a:p>
        </p:txBody>
      </p:sp>
      <p:sp>
        <p:nvSpPr>
          <p:cNvPr id="285" name="Google Shape;285;p19"/>
          <p:cNvSpPr/>
          <p:nvPr/>
        </p:nvSpPr>
        <p:spPr>
          <a:xfrm>
            <a:off x="589788" y="3326130"/>
            <a:ext cx="1152144" cy="562356"/>
          </a:xfrm>
          <a:prstGeom prst="roundRect">
            <a:avLst>
              <a:gd fmla="val 14634"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6" name="Google Shape;286;p19"/>
          <p:cNvSpPr/>
          <p:nvPr/>
        </p:nvSpPr>
        <p:spPr>
          <a:xfrm>
            <a:off x="658368" y="3394710"/>
            <a:ext cx="41148" cy="425196"/>
          </a:xfrm>
          <a:prstGeom prst="rect">
            <a:avLst/>
          </a:prstGeom>
          <a:solidFill>
            <a:srgbClr val="2F6B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7" name="Google Shape;287;p19"/>
          <p:cNvSpPr/>
          <p:nvPr/>
        </p:nvSpPr>
        <p:spPr>
          <a:xfrm>
            <a:off x="781812" y="3408426"/>
            <a:ext cx="8915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FF"/>
              </a:buClr>
              <a:buSzPts val="1400"/>
              <a:buFont typeface="Play"/>
              <a:buNone/>
            </a:pPr>
            <a:r>
              <a:rPr b="1" i="0" lang="en-CA" sz="1400" u="none" cap="none" strike="noStrike">
                <a:solidFill>
                  <a:srgbClr val="2F6BFF"/>
                </a:solidFill>
                <a:latin typeface="Play"/>
                <a:ea typeface="Play"/>
                <a:cs typeface="Play"/>
                <a:sym typeface="Play"/>
              </a:rPr>
              <a:t>100%</a:t>
            </a:r>
            <a:endParaRPr b="0" i="0" sz="1400" u="none" cap="none" strike="noStrike">
              <a:solidFill>
                <a:schemeClr val="dk1"/>
              </a:solidFill>
              <a:latin typeface="Arial"/>
              <a:ea typeface="Arial"/>
              <a:cs typeface="Arial"/>
              <a:sym typeface="Arial"/>
            </a:endParaRPr>
          </a:p>
        </p:txBody>
      </p:sp>
      <p:sp>
        <p:nvSpPr>
          <p:cNvPr id="288" name="Google Shape;288;p19"/>
          <p:cNvSpPr/>
          <p:nvPr/>
        </p:nvSpPr>
        <p:spPr>
          <a:xfrm>
            <a:off x="781812" y="3634740"/>
            <a:ext cx="89154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b="0" i="0" lang="en-CA" sz="600" u="none" cap="none" strike="noStrike">
                <a:solidFill>
                  <a:srgbClr val="6B7A90"/>
                </a:solidFill>
                <a:latin typeface="Arial"/>
                <a:ea typeface="Arial"/>
                <a:cs typeface="Arial"/>
                <a:sym typeface="Arial"/>
              </a:rPr>
              <a:t>citation validity</a:t>
            </a:r>
            <a:endParaRPr b="0" i="0" sz="600" u="none" cap="none" strike="noStrike">
              <a:solidFill>
                <a:schemeClr val="dk1"/>
              </a:solidFill>
              <a:latin typeface="Arial"/>
              <a:ea typeface="Arial"/>
              <a:cs typeface="Arial"/>
              <a:sym typeface="Arial"/>
            </a:endParaRPr>
          </a:p>
        </p:txBody>
      </p:sp>
      <p:sp>
        <p:nvSpPr>
          <p:cNvPr id="289" name="Google Shape;289;p19"/>
          <p:cNvSpPr/>
          <p:nvPr/>
        </p:nvSpPr>
        <p:spPr>
          <a:xfrm>
            <a:off x="1851660" y="3326130"/>
            <a:ext cx="1152144" cy="562356"/>
          </a:xfrm>
          <a:prstGeom prst="roundRect">
            <a:avLst>
              <a:gd fmla="val 14634"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0" name="Google Shape;290;p19"/>
          <p:cNvSpPr/>
          <p:nvPr/>
        </p:nvSpPr>
        <p:spPr>
          <a:xfrm>
            <a:off x="1920240" y="3394710"/>
            <a:ext cx="41148" cy="425196"/>
          </a:xfrm>
          <a:prstGeom prst="rect">
            <a:avLst/>
          </a:prstGeom>
          <a:solidFill>
            <a:srgbClr val="7657D5"/>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1" name="Google Shape;291;p19"/>
          <p:cNvSpPr/>
          <p:nvPr/>
        </p:nvSpPr>
        <p:spPr>
          <a:xfrm>
            <a:off x="2043684" y="3408426"/>
            <a:ext cx="8915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57D5"/>
              </a:buClr>
              <a:buSzPts val="1400"/>
              <a:buFont typeface="Play"/>
              <a:buNone/>
            </a:pPr>
            <a:r>
              <a:rPr b="1" i="0" lang="en-CA" sz="1400" u="none" cap="none" strike="noStrike">
                <a:solidFill>
                  <a:srgbClr val="7657D5"/>
                </a:solidFill>
                <a:latin typeface="Play"/>
                <a:ea typeface="Play"/>
                <a:cs typeface="Play"/>
                <a:sym typeface="Play"/>
              </a:rPr>
              <a:t>94.7%</a:t>
            </a:r>
            <a:endParaRPr b="0" i="0" sz="1400" u="none" cap="none" strike="noStrike">
              <a:solidFill>
                <a:schemeClr val="dk1"/>
              </a:solidFill>
              <a:latin typeface="Arial"/>
              <a:ea typeface="Arial"/>
              <a:cs typeface="Arial"/>
              <a:sym typeface="Arial"/>
            </a:endParaRPr>
          </a:p>
        </p:txBody>
      </p:sp>
      <p:sp>
        <p:nvSpPr>
          <p:cNvPr id="292" name="Google Shape;292;p19"/>
          <p:cNvSpPr/>
          <p:nvPr/>
        </p:nvSpPr>
        <p:spPr>
          <a:xfrm>
            <a:off x="2043684" y="3634740"/>
            <a:ext cx="89154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b="0" i="0" lang="en-CA" sz="600" u="none" cap="none" strike="noStrike">
                <a:solidFill>
                  <a:srgbClr val="6B7A90"/>
                </a:solidFill>
                <a:latin typeface="Arial"/>
                <a:ea typeface="Arial"/>
                <a:cs typeface="Arial"/>
                <a:sym typeface="Arial"/>
              </a:rPr>
              <a:t>validator pass</a:t>
            </a:r>
            <a:endParaRPr b="0" i="0" sz="600" u="none" cap="none" strike="noStrike">
              <a:solidFill>
                <a:schemeClr val="dk1"/>
              </a:solidFill>
              <a:latin typeface="Arial"/>
              <a:ea typeface="Arial"/>
              <a:cs typeface="Arial"/>
              <a:sym typeface="Arial"/>
            </a:endParaRPr>
          </a:p>
        </p:txBody>
      </p:sp>
      <p:sp>
        <p:nvSpPr>
          <p:cNvPr id="293" name="Google Shape;293;p19"/>
          <p:cNvSpPr/>
          <p:nvPr/>
        </p:nvSpPr>
        <p:spPr>
          <a:xfrm>
            <a:off x="3113532" y="3326130"/>
            <a:ext cx="1152144" cy="562356"/>
          </a:xfrm>
          <a:prstGeom prst="roundRect">
            <a:avLst>
              <a:gd fmla="val 14634"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4" name="Google Shape;294;p19"/>
          <p:cNvSpPr/>
          <p:nvPr/>
        </p:nvSpPr>
        <p:spPr>
          <a:xfrm>
            <a:off x="3182112" y="3394710"/>
            <a:ext cx="41148" cy="425196"/>
          </a:xfrm>
          <a:prstGeom prst="rect">
            <a:avLst/>
          </a:prstGeom>
          <a:solidFill>
            <a:srgbClr val="E98B2A"/>
          </a:solidFill>
          <a:ln cap="flat" cmpd="sng" w="12700">
            <a:solidFill>
              <a:srgbClr val="E98B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5" name="Google Shape;295;p19"/>
          <p:cNvSpPr/>
          <p:nvPr/>
        </p:nvSpPr>
        <p:spPr>
          <a:xfrm>
            <a:off x="3305556" y="3408426"/>
            <a:ext cx="8915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8B2A"/>
              </a:buClr>
              <a:buSzPts val="1400"/>
              <a:buFont typeface="Play"/>
              <a:buNone/>
            </a:pPr>
            <a:r>
              <a:rPr b="1" i="0" lang="en-CA" sz="1400" u="none" cap="none" strike="noStrike">
                <a:solidFill>
                  <a:srgbClr val="E98B2A"/>
                </a:solidFill>
                <a:latin typeface="Play"/>
                <a:ea typeface="Play"/>
                <a:cs typeface="Play"/>
                <a:sym typeface="Play"/>
              </a:rPr>
              <a:t>0</a:t>
            </a:r>
            <a:endParaRPr b="0" i="0" sz="1400" u="none" cap="none" strike="noStrike">
              <a:solidFill>
                <a:schemeClr val="dk1"/>
              </a:solidFill>
              <a:latin typeface="Arial"/>
              <a:ea typeface="Arial"/>
              <a:cs typeface="Arial"/>
              <a:sym typeface="Arial"/>
            </a:endParaRPr>
          </a:p>
        </p:txBody>
      </p:sp>
      <p:sp>
        <p:nvSpPr>
          <p:cNvPr id="296" name="Google Shape;296;p19"/>
          <p:cNvSpPr/>
          <p:nvPr/>
        </p:nvSpPr>
        <p:spPr>
          <a:xfrm>
            <a:off x="3305556" y="3634740"/>
            <a:ext cx="89154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600"/>
              <a:buFont typeface="Arial"/>
              <a:buNone/>
            </a:pPr>
            <a:r>
              <a:rPr lang="en-CA" sz="600">
                <a:solidFill>
                  <a:srgbClr val="6B7A90"/>
                </a:solidFill>
              </a:rPr>
              <a:t>exact-question overlap </a:t>
            </a:r>
            <a:endParaRPr b="0" i="0" sz="600" u="none" cap="none" strike="noStrike">
              <a:solidFill>
                <a:schemeClr val="dk1"/>
              </a:solidFill>
              <a:latin typeface="Arial"/>
              <a:ea typeface="Arial"/>
              <a:cs typeface="Arial"/>
              <a:sym typeface="Arial"/>
            </a:endParaRPr>
          </a:p>
        </p:txBody>
      </p:sp>
      <p:sp>
        <p:nvSpPr>
          <p:cNvPr id="297" name="Google Shape;297;p19"/>
          <p:cNvSpPr/>
          <p:nvPr/>
        </p:nvSpPr>
        <p:spPr>
          <a:xfrm>
            <a:off x="589788" y="4053078"/>
            <a:ext cx="3675888" cy="432054"/>
          </a:xfrm>
          <a:prstGeom prst="roundRect">
            <a:avLst>
              <a:gd fmla="val 15873" name="adj"/>
            </a:avLst>
          </a:prstGeom>
          <a:solidFill>
            <a:srgbClr val="F3F6FA"/>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8" name="Google Shape;298;p19"/>
          <p:cNvSpPr/>
          <p:nvPr/>
        </p:nvSpPr>
        <p:spPr>
          <a:xfrm>
            <a:off x="726961" y="4203955"/>
            <a:ext cx="480000" cy="12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600"/>
              <a:buFont typeface="Arial"/>
              <a:buNone/>
            </a:pPr>
            <a:r>
              <a:rPr b="1" i="0" lang="en-CA" sz="800" u="none" cap="none" strike="noStrike">
                <a:solidFill>
                  <a:srgbClr val="102A43"/>
                </a:solidFill>
                <a:latin typeface="Arial"/>
                <a:ea typeface="Arial"/>
                <a:cs typeface="Arial"/>
                <a:sym typeface="Arial"/>
              </a:rPr>
              <a:t>Trade-off</a:t>
            </a:r>
            <a:endParaRPr b="0" i="0" sz="800" u="none" cap="none" strike="noStrike">
              <a:solidFill>
                <a:schemeClr val="dk1"/>
              </a:solidFill>
              <a:latin typeface="Arial"/>
              <a:ea typeface="Arial"/>
              <a:cs typeface="Arial"/>
              <a:sym typeface="Arial"/>
            </a:endParaRPr>
          </a:p>
        </p:txBody>
      </p:sp>
      <p:sp>
        <p:nvSpPr>
          <p:cNvPr id="299" name="Google Shape;299;p19"/>
          <p:cNvSpPr/>
          <p:nvPr/>
        </p:nvSpPr>
        <p:spPr>
          <a:xfrm>
            <a:off x="1203583" y="4169578"/>
            <a:ext cx="2880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600"/>
              <a:buFont typeface="Arial"/>
              <a:buNone/>
            </a:pPr>
            <a:r>
              <a:rPr b="0" i="0" lang="en-CA" sz="600" u="none" cap="none" strike="noStrike">
                <a:solidFill>
                  <a:srgbClr val="1E293B"/>
                </a:solidFill>
                <a:latin typeface="Arial"/>
                <a:ea typeface="Arial"/>
                <a:cs typeface="Arial"/>
                <a:sym typeface="Arial"/>
              </a:rPr>
              <a:t>TTFT 48.1 → 76.5 ms, but mean generation time 6.18 → 3.31 s because grounded answers were shorter.</a:t>
            </a:r>
            <a:endParaRPr b="0" i="0" sz="600" u="none" cap="none" strike="noStrike">
              <a:solidFill>
                <a:schemeClr val="dk1"/>
              </a:solidFill>
              <a:latin typeface="Arial"/>
              <a:ea typeface="Arial"/>
              <a:cs typeface="Arial"/>
              <a:sym typeface="Arial"/>
            </a:endParaRPr>
          </a:p>
        </p:txBody>
      </p:sp>
      <p:sp>
        <p:nvSpPr>
          <p:cNvPr id="300" name="Google Shape;300;p19"/>
          <p:cNvSpPr/>
          <p:nvPr/>
        </p:nvSpPr>
        <p:spPr>
          <a:xfrm>
            <a:off x="5061586" y="894961"/>
            <a:ext cx="3648600" cy="3861000"/>
          </a:xfrm>
          <a:prstGeom prst="roundRect">
            <a:avLst>
              <a:gd fmla="val 2256"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1" name="Google Shape;301;p19"/>
          <p:cNvSpPr/>
          <p:nvPr/>
        </p:nvSpPr>
        <p:spPr>
          <a:xfrm>
            <a:off x="5250125" y="1087063"/>
            <a:ext cx="3705300" cy="12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57D5"/>
              </a:buClr>
              <a:buSzPts val="600"/>
              <a:buFont typeface="Arial"/>
              <a:buNone/>
            </a:pPr>
            <a:r>
              <a:rPr b="1" i="0" lang="en-CA" sz="1000" u="none" cap="none" strike="noStrike">
                <a:solidFill>
                  <a:srgbClr val="7657D5"/>
                </a:solidFill>
                <a:latin typeface="Arial"/>
                <a:ea typeface="Arial"/>
                <a:cs typeface="Arial"/>
                <a:sym typeface="Arial"/>
              </a:rPr>
              <a:t>SPECULATIVE DECODING · CORRECTNESS VS SPEED</a:t>
            </a:r>
            <a:endParaRPr b="0" i="0" sz="1000" u="none" cap="none" strike="noStrike">
              <a:solidFill>
                <a:schemeClr val="dk1"/>
              </a:solidFill>
              <a:latin typeface="Arial"/>
              <a:ea typeface="Arial"/>
              <a:cs typeface="Arial"/>
              <a:sym typeface="Arial"/>
            </a:endParaRPr>
          </a:p>
        </p:txBody>
      </p:sp>
      <p:sp>
        <p:nvSpPr>
          <p:cNvPr id="302" name="Google Shape;302;p19"/>
          <p:cNvSpPr/>
          <p:nvPr/>
        </p:nvSpPr>
        <p:spPr>
          <a:xfrm>
            <a:off x="5280660" y="1261872"/>
            <a:ext cx="32232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700"/>
              <a:buFont typeface="Arial"/>
              <a:buNone/>
            </a:pPr>
            <a:r>
              <a:rPr lang="en-CA" sz="700">
                <a:solidFill>
                  <a:srgbClr val="6B7A90"/>
                </a:solidFill>
              </a:rPr>
              <a:t>In exact mode, speculative decoding reproduced the target-only greedy output in every tested case. </a:t>
            </a:r>
            <a:endParaRPr b="0" i="0" sz="700" u="none" cap="none" strike="noStrike">
              <a:solidFill>
                <a:schemeClr val="dk1"/>
              </a:solidFill>
              <a:latin typeface="Arial"/>
              <a:ea typeface="Arial"/>
              <a:cs typeface="Arial"/>
              <a:sym typeface="Arial"/>
            </a:endParaRPr>
          </a:p>
        </p:txBody>
      </p:sp>
      <p:sp>
        <p:nvSpPr>
          <p:cNvPr id="303" name="Google Shape;303;p19"/>
          <p:cNvSpPr/>
          <p:nvPr/>
        </p:nvSpPr>
        <p:spPr>
          <a:xfrm>
            <a:off x="5280723" y="1630399"/>
            <a:ext cx="3264300" cy="562500"/>
          </a:xfrm>
          <a:prstGeom prst="roundRect">
            <a:avLst>
              <a:gd fmla="val 12195" name="adj"/>
            </a:avLst>
          </a:prstGeom>
          <a:solidFill>
            <a:srgbClr val="F0ECFF"/>
          </a:solidFill>
          <a:ln cap="flat" cmpd="sng" w="12700">
            <a:solidFill>
              <a:srgbClr val="C7B8F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4" name="Google Shape;304;p19"/>
          <p:cNvSpPr/>
          <p:nvPr/>
        </p:nvSpPr>
        <p:spPr>
          <a:xfrm>
            <a:off x="5358637" y="1693925"/>
            <a:ext cx="975600" cy="15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57D5"/>
              </a:buClr>
              <a:buSzPts val="600"/>
              <a:buFont typeface="Arial"/>
              <a:buNone/>
            </a:pPr>
            <a:r>
              <a:rPr b="1" i="0" lang="en-CA" sz="900" u="none" cap="none" strike="noStrike">
                <a:solidFill>
                  <a:srgbClr val="7657D5"/>
                </a:solidFill>
                <a:latin typeface="Arial"/>
                <a:ea typeface="Arial"/>
                <a:cs typeface="Arial"/>
                <a:sym typeface="Arial"/>
              </a:rPr>
              <a:t>Correctness gate</a:t>
            </a:r>
            <a:endParaRPr b="0" i="0" sz="900" u="none" cap="none" strike="noStrike">
              <a:solidFill>
                <a:schemeClr val="dk1"/>
              </a:solidFill>
              <a:latin typeface="Arial"/>
              <a:ea typeface="Arial"/>
              <a:cs typeface="Arial"/>
              <a:sym typeface="Arial"/>
            </a:endParaRPr>
          </a:p>
        </p:txBody>
      </p:sp>
      <p:sp>
        <p:nvSpPr>
          <p:cNvPr id="305" name="Google Shape;305;p19"/>
          <p:cNvSpPr/>
          <p:nvPr/>
        </p:nvSpPr>
        <p:spPr>
          <a:xfrm>
            <a:off x="5358650" y="1865381"/>
            <a:ext cx="27660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000"/>
              <a:buFont typeface="Play"/>
              <a:buNone/>
            </a:pPr>
            <a:r>
              <a:rPr b="1" i="0" lang="en-CA" sz="1000" u="none" cap="none" strike="noStrike">
                <a:solidFill>
                  <a:srgbClr val="102A43"/>
                </a:solidFill>
                <a:latin typeface="Play"/>
                <a:ea typeface="Play"/>
                <a:cs typeface="Play"/>
                <a:sym typeface="Play"/>
              </a:rPr>
              <a:t>100% exact target-token equality</a:t>
            </a:r>
            <a:br>
              <a:rPr b="1" i="0" lang="en-CA" sz="1000" u="none" cap="none" strike="noStrike">
                <a:solidFill>
                  <a:srgbClr val="102A43"/>
                </a:solidFill>
                <a:latin typeface="Play"/>
                <a:ea typeface="Play"/>
                <a:cs typeface="Play"/>
                <a:sym typeface="Play"/>
              </a:rPr>
            </a:br>
            <a:r>
              <a:rPr b="1" i="0" lang="en-CA" sz="800" u="none" cap="none" strike="noStrike">
                <a:solidFill>
                  <a:srgbClr val="102A43"/>
                </a:solidFill>
                <a:latin typeface="Play"/>
                <a:ea typeface="Play"/>
                <a:cs typeface="Play"/>
                <a:sym typeface="Play"/>
              </a:rPr>
              <a:t>Speculative output = Qwen3-4B greedy output </a:t>
            </a:r>
            <a:endParaRPr b="0" i="0" sz="800" u="none" cap="none" strike="noStrike">
              <a:solidFill>
                <a:schemeClr val="dk1"/>
              </a:solidFill>
              <a:latin typeface="Arial"/>
              <a:ea typeface="Arial"/>
              <a:cs typeface="Arial"/>
              <a:sym typeface="Arial"/>
            </a:endParaRPr>
          </a:p>
        </p:txBody>
      </p:sp>
      <p:sp>
        <p:nvSpPr>
          <p:cNvPr id="306" name="Google Shape;306;p19"/>
          <p:cNvSpPr/>
          <p:nvPr/>
        </p:nvSpPr>
        <p:spPr>
          <a:xfrm>
            <a:off x="5280660" y="2345436"/>
            <a:ext cx="185166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800" u="none" cap="none" strike="noStrike">
                <a:solidFill>
                  <a:srgbClr val="102A43"/>
                </a:solidFill>
                <a:latin typeface="Play"/>
                <a:ea typeface="Play"/>
                <a:cs typeface="Play"/>
                <a:sym typeface="Play"/>
              </a:rPr>
              <a:t>Qwen3-0.6B block verification</a:t>
            </a:r>
            <a:endParaRPr b="0" i="0" sz="800" u="none" cap="none" strike="noStrike">
              <a:solidFill>
                <a:schemeClr val="dk1"/>
              </a:solidFill>
              <a:latin typeface="Arial"/>
              <a:ea typeface="Arial"/>
              <a:cs typeface="Arial"/>
              <a:sym typeface="Arial"/>
            </a:endParaRPr>
          </a:p>
        </p:txBody>
      </p:sp>
      <p:sp>
        <p:nvSpPr>
          <p:cNvPr id="307" name="Google Shape;307;p19"/>
          <p:cNvSpPr/>
          <p:nvPr/>
        </p:nvSpPr>
        <p:spPr>
          <a:xfrm>
            <a:off x="5280660" y="2612898"/>
            <a:ext cx="113157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700"/>
              <a:buFont typeface="Arial"/>
              <a:buNone/>
            </a:pPr>
            <a:r>
              <a:rPr b="0" i="0" lang="en-CA" sz="700" u="none" cap="none" strike="noStrike">
                <a:solidFill>
                  <a:srgbClr val="1E293B"/>
                </a:solidFill>
                <a:latin typeface="Arial"/>
                <a:ea typeface="Arial"/>
                <a:cs typeface="Arial"/>
                <a:sym typeface="Arial"/>
              </a:rPr>
              <a:t>Acceptance, γ=2</a:t>
            </a:r>
            <a:endParaRPr b="0" i="0" sz="700" u="none" cap="none" strike="noStrike">
              <a:solidFill>
                <a:schemeClr val="dk1"/>
              </a:solidFill>
              <a:latin typeface="Arial"/>
              <a:ea typeface="Arial"/>
              <a:cs typeface="Arial"/>
              <a:sym typeface="Arial"/>
            </a:endParaRPr>
          </a:p>
        </p:txBody>
      </p:sp>
      <p:sp>
        <p:nvSpPr>
          <p:cNvPr id="308" name="Google Shape;308;p19"/>
          <p:cNvSpPr/>
          <p:nvPr/>
        </p:nvSpPr>
        <p:spPr>
          <a:xfrm>
            <a:off x="6432804" y="2626614"/>
            <a:ext cx="1597914" cy="164592"/>
          </a:xfrm>
          <a:prstGeom prst="roundRect">
            <a:avLst>
              <a:gd fmla="val 41667" name="adj"/>
            </a:avLst>
          </a:prstGeom>
          <a:solidFill>
            <a:srgbClr val="E6EBF2"/>
          </a:solidFill>
          <a:ln cap="flat" cmpd="sng" w="12700">
            <a:solidFill>
              <a:srgbClr val="E6EB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9" name="Google Shape;309;p19"/>
          <p:cNvSpPr/>
          <p:nvPr/>
        </p:nvSpPr>
        <p:spPr>
          <a:xfrm>
            <a:off x="6432804" y="2626614"/>
            <a:ext cx="906017" cy="164592"/>
          </a:xfrm>
          <a:prstGeom prst="roundRect">
            <a:avLst>
              <a:gd fmla="val 41667" name="adj"/>
            </a:avLst>
          </a:prstGeom>
          <a:solidFill>
            <a:srgbClr val="7657D5"/>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0" name="Google Shape;310;p19"/>
          <p:cNvSpPr/>
          <p:nvPr/>
        </p:nvSpPr>
        <p:spPr>
          <a:xfrm>
            <a:off x="8099298" y="2612898"/>
            <a:ext cx="466344" cy="1508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657D5"/>
              </a:buClr>
              <a:buSzPts val="700"/>
              <a:buFont typeface="Arial"/>
              <a:buNone/>
            </a:pPr>
            <a:r>
              <a:rPr b="1" i="0" lang="en-CA" sz="700" u="none" cap="none" strike="noStrike">
                <a:solidFill>
                  <a:srgbClr val="7657D5"/>
                </a:solidFill>
                <a:latin typeface="Arial"/>
                <a:ea typeface="Arial"/>
                <a:cs typeface="Arial"/>
                <a:sym typeface="Arial"/>
              </a:rPr>
              <a:t>56.7%</a:t>
            </a:r>
            <a:endParaRPr b="0" i="0" sz="700" u="none" cap="none" strike="noStrike">
              <a:solidFill>
                <a:schemeClr val="dk1"/>
              </a:solidFill>
              <a:latin typeface="Arial"/>
              <a:ea typeface="Arial"/>
              <a:cs typeface="Arial"/>
              <a:sym typeface="Arial"/>
            </a:endParaRPr>
          </a:p>
        </p:txBody>
      </p:sp>
      <p:sp>
        <p:nvSpPr>
          <p:cNvPr id="311" name="Google Shape;311;p19"/>
          <p:cNvSpPr/>
          <p:nvPr/>
        </p:nvSpPr>
        <p:spPr>
          <a:xfrm>
            <a:off x="5280660" y="2880360"/>
            <a:ext cx="113157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700"/>
              <a:buFont typeface="Arial"/>
              <a:buNone/>
            </a:pPr>
            <a:r>
              <a:rPr b="0" i="0" lang="en-CA" sz="700" u="none" cap="none" strike="noStrike">
                <a:solidFill>
                  <a:srgbClr val="1E293B"/>
                </a:solidFill>
                <a:latin typeface="Arial"/>
                <a:ea typeface="Arial"/>
                <a:cs typeface="Arial"/>
                <a:sym typeface="Arial"/>
              </a:rPr>
              <a:t>Acceptance, γ=4</a:t>
            </a:r>
            <a:endParaRPr b="0" i="0" sz="700" u="none" cap="none" strike="noStrike">
              <a:solidFill>
                <a:schemeClr val="dk1"/>
              </a:solidFill>
              <a:latin typeface="Arial"/>
              <a:ea typeface="Arial"/>
              <a:cs typeface="Arial"/>
              <a:sym typeface="Arial"/>
            </a:endParaRPr>
          </a:p>
        </p:txBody>
      </p:sp>
      <p:sp>
        <p:nvSpPr>
          <p:cNvPr id="312" name="Google Shape;312;p19"/>
          <p:cNvSpPr/>
          <p:nvPr/>
        </p:nvSpPr>
        <p:spPr>
          <a:xfrm>
            <a:off x="6432804" y="2894076"/>
            <a:ext cx="1597914" cy="164592"/>
          </a:xfrm>
          <a:prstGeom prst="roundRect">
            <a:avLst>
              <a:gd fmla="val 41667" name="adj"/>
            </a:avLst>
          </a:prstGeom>
          <a:solidFill>
            <a:srgbClr val="E6EBF2"/>
          </a:solidFill>
          <a:ln cap="flat" cmpd="sng" w="12700">
            <a:solidFill>
              <a:srgbClr val="E6EB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3" name="Google Shape;313;p19"/>
          <p:cNvSpPr/>
          <p:nvPr/>
        </p:nvSpPr>
        <p:spPr>
          <a:xfrm>
            <a:off x="6432804" y="2894076"/>
            <a:ext cx="693495" cy="164592"/>
          </a:xfrm>
          <a:prstGeom prst="roundRect">
            <a:avLst>
              <a:gd fmla="val 41667" name="adj"/>
            </a:avLst>
          </a:prstGeom>
          <a:solidFill>
            <a:srgbClr val="7657D5"/>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4" name="Google Shape;314;p19"/>
          <p:cNvSpPr/>
          <p:nvPr/>
        </p:nvSpPr>
        <p:spPr>
          <a:xfrm>
            <a:off x="8099298" y="2880360"/>
            <a:ext cx="466344" cy="1508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657D5"/>
              </a:buClr>
              <a:buSzPts val="700"/>
              <a:buFont typeface="Arial"/>
              <a:buNone/>
            </a:pPr>
            <a:r>
              <a:rPr b="1" i="0" lang="en-CA" sz="700" u="none" cap="none" strike="noStrike">
                <a:solidFill>
                  <a:srgbClr val="7657D5"/>
                </a:solidFill>
                <a:latin typeface="Arial"/>
                <a:ea typeface="Arial"/>
                <a:cs typeface="Arial"/>
                <a:sym typeface="Arial"/>
              </a:rPr>
              <a:t>43.4%</a:t>
            </a:r>
            <a:endParaRPr b="0" i="0" sz="700" u="none" cap="none" strike="noStrike">
              <a:solidFill>
                <a:schemeClr val="dk1"/>
              </a:solidFill>
              <a:latin typeface="Arial"/>
              <a:ea typeface="Arial"/>
              <a:cs typeface="Arial"/>
              <a:sym typeface="Arial"/>
            </a:endParaRPr>
          </a:p>
        </p:txBody>
      </p:sp>
      <p:sp>
        <p:nvSpPr>
          <p:cNvPr id="315" name="Google Shape;315;p19"/>
          <p:cNvSpPr/>
          <p:nvPr/>
        </p:nvSpPr>
        <p:spPr>
          <a:xfrm>
            <a:off x="5280660" y="3147822"/>
            <a:ext cx="113157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700"/>
              <a:buFont typeface="Arial"/>
              <a:buNone/>
            </a:pPr>
            <a:r>
              <a:rPr b="0" i="0" lang="en-CA" sz="700" u="none" cap="none" strike="noStrike">
                <a:solidFill>
                  <a:srgbClr val="1E293B"/>
                </a:solidFill>
                <a:latin typeface="Arial"/>
                <a:ea typeface="Arial"/>
                <a:cs typeface="Arial"/>
                <a:sym typeface="Arial"/>
              </a:rPr>
              <a:t>Acceptance, γ=6</a:t>
            </a:r>
            <a:endParaRPr b="0" i="0" sz="700" u="none" cap="none" strike="noStrike">
              <a:solidFill>
                <a:schemeClr val="dk1"/>
              </a:solidFill>
              <a:latin typeface="Arial"/>
              <a:ea typeface="Arial"/>
              <a:cs typeface="Arial"/>
              <a:sym typeface="Arial"/>
            </a:endParaRPr>
          </a:p>
        </p:txBody>
      </p:sp>
      <p:sp>
        <p:nvSpPr>
          <p:cNvPr id="316" name="Google Shape;316;p19"/>
          <p:cNvSpPr/>
          <p:nvPr/>
        </p:nvSpPr>
        <p:spPr>
          <a:xfrm>
            <a:off x="6432804" y="3161538"/>
            <a:ext cx="1597914" cy="164592"/>
          </a:xfrm>
          <a:prstGeom prst="roundRect">
            <a:avLst>
              <a:gd fmla="val 41667" name="adj"/>
            </a:avLst>
          </a:prstGeom>
          <a:solidFill>
            <a:srgbClr val="E6EBF2"/>
          </a:solidFill>
          <a:ln cap="flat" cmpd="sng" w="12700">
            <a:solidFill>
              <a:srgbClr val="E6EB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7" name="Google Shape;317;p19"/>
          <p:cNvSpPr/>
          <p:nvPr/>
        </p:nvSpPr>
        <p:spPr>
          <a:xfrm>
            <a:off x="6432804" y="3161538"/>
            <a:ext cx="533703" cy="164592"/>
          </a:xfrm>
          <a:prstGeom prst="roundRect">
            <a:avLst>
              <a:gd fmla="val 41667" name="adj"/>
            </a:avLst>
          </a:prstGeom>
          <a:solidFill>
            <a:srgbClr val="7657D5"/>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8" name="Google Shape;318;p19"/>
          <p:cNvSpPr/>
          <p:nvPr/>
        </p:nvSpPr>
        <p:spPr>
          <a:xfrm>
            <a:off x="8099298" y="3147822"/>
            <a:ext cx="466344" cy="1508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657D5"/>
              </a:buClr>
              <a:buSzPts val="700"/>
              <a:buFont typeface="Arial"/>
              <a:buNone/>
            </a:pPr>
            <a:r>
              <a:rPr b="1" i="0" lang="en-CA" sz="700" u="none" cap="none" strike="noStrike">
                <a:solidFill>
                  <a:srgbClr val="7657D5"/>
                </a:solidFill>
                <a:latin typeface="Arial"/>
                <a:ea typeface="Arial"/>
                <a:cs typeface="Arial"/>
                <a:sym typeface="Arial"/>
              </a:rPr>
              <a:t>33.4%</a:t>
            </a:r>
            <a:endParaRPr b="0" i="0" sz="700" u="none" cap="none" strike="noStrike">
              <a:solidFill>
                <a:schemeClr val="dk1"/>
              </a:solidFill>
              <a:latin typeface="Arial"/>
              <a:ea typeface="Arial"/>
              <a:cs typeface="Arial"/>
              <a:sym typeface="Arial"/>
            </a:endParaRPr>
          </a:p>
        </p:txBody>
      </p:sp>
      <p:sp>
        <p:nvSpPr>
          <p:cNvPr id="319" name="Google Shape;319;p19"/>
          <p:cNvSpPr/>
          <p:nvPr/>
        </p:nvSpPr>
        <p:spPr>
          <a:xfrm>
            <a:off x="5270373" y="3718673"/>
            <a:ext cx="1522500" cy="685800"/>
          </a:xfrm>
          <a:prstGeom prst="roundRect">
            <a:avLst>
              <a:gd fmla="val 10000" name="adj"/>
            </a:avLst>
          </a:prstGeom>
          <a:solidFill>
            <a:srgbClr val="FDECEC"/>
          </a:solidFill>
          <a:ln cap="flat" cmpd="sng" w="12700">
            <a:solidFill>
              <a:srgbClr val="F2B8B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0" name="Google Shape;320;p19"/>
          <p:cNvSpPr/>
          <p:nvPr/>
        </p:nvSpPr>
        <p:spPr>
          <a:xfrm>
            <a:off x="5431561" y="3809613"/>
            <a:ext cx="1200300" cy="22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4D4D"/>
              </a:buClr>
              <a:buSzPts val="1400"/>
              <a:buFont typeface="Play"/>
              <a:buNone/>
            </a:pPr>
            <a:r>
              <a:rPr b="1" i="0" lang="en-CA" sz="1400" u="none" cap="none" strike="noStrike">
                <a:solidFill>
                  <a:srgbClr val="C84D4D"/>
                </a:solidFill>
                <a:latin typeface="Play"/>
                <a:ea typeface="Play"/>
                <a:cs typeface="Play"/>
                <a:sym typeface="Play"/>
              </a:rPr>
              <a:t>0.536×</a:t>
            </a:r>
            <a:endParaRPr b="0" i="0" sz="1400" u="none" cap="none" strike="noStrike">
              <a:solidFill>
                <a:schemeClr val="dk1"/>
              </a:solidFill>
              <a:latin typeface="Arial"/>
              <a:ea typeface="Arial"/>
              <a:cs typeface="Arial"/>
              <a:sym typeface="Arial"/>
            </a:endParaRPr>
          </a:p>
        </p:txBody>
      </p:sp>
      <p:sp>
        <p:nvSpPr>
          <p:cNvPr id="321" name="Google Shape;321;p19"/>
          <p:cNvSpPr/>
          <p:nvPr/>
        </p:nvSpPr>
        <p:spPr>
          <a:xfrm>
            <a:off x="5431536" y="4166304"/>
            <a:ext cx="12003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0"/>
              </a:buClr>
              <a:buSzPts val="600"/>
              <a:buFont typeface="Arial"/>
              <a:buNone/>
            </a:pPr>
            <a:r>
              <a:rPr b="0" i="0" lang="en-CA" sz="600" u="none" cap="none" strike="noStrike">
                <a:solidFill>
                  <a:srgbClr val="6B7A90"/>
                </a:solidFill>
                <a:latin typeface="Arial"/>
                <a:ea typeface="Arial"/>
                <a:cs typeface="Arial"/>
                <a:sym typeface="Arial"/>
              </a:rPr>
              <a:t>best wall-clock speed</a:t>
            </a:r>
            <a:endParaRPr b="0" i="0" sz="600" u="none" cap="none" strike="noStrike">
              <a:solidFill>
                <a:schemeClr val="dk1"/>
              </a:solidFill>
              <a:latin typeface="Arial"/>
              <a:ea typeface="Arial"/>
              <a:cs typeface="Arial"/>
              <a:sym typeface="Arial"/>
            </a:endParaRPr>
          </a:p>
        </p:txBody>
      </p:sp>
      <p:sp>
        <p:nvSpPr>
          <p:cNvPr id="322" name="Google Shape;322;p19"/>
          <p:cNvSpPr/>
          <p:nvPr/>
        </p:nvSpPr>
        <p:spPr>
          <a:xfrm>
            <a:off x="6885430" y="3718673"/>
            <a:ext cx="1618500" cy="685800"/>
          </a:xfrm>
          <a:prstGeom prst="roundRect">
            <a:avLst>
              <a:gd fmla="val 10000" name="adj"/>
            </a:avLst>
          </a:prstGeom>
          <a:solidFill>
            <a:srgbClr val="FFF1E2"/>
          </a:solidFill>
          <a:ln cap="flat" cmpd="sng" w="12700">
            <a:solidFill>
              <a:srgbClr val="F2C38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3" name="Google Shape;323;p19"/>
          <p:cNvSpPr/>
          <p:nvPr/>
        </p:nvSpPr>
        <p:spPr>
          <a:xfrm>
            <a:off x="7084414" y="3809625"/>
            <a:ext cx="1302900" cy="22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8B2A"/>
              </a:buClr>
              <a:buSzPts val="1400"/>
              <a:buFont typeface="Play"/>
              <a:buNone/>
            </a:pPr>
            <a:r>
              <a:rPr b="1" i="0" lang="en-CA" sz="1400" u="none" cap="none" strike="noStrike">
                <a:solidFill>
                  <a:srgbClr val="E98B2A"/>
                </a:solidFill>
                <a:latin typeface="Play"/>
                <a:ea typeface="Play"/>
                <a:cs typeface="Play"/>
                <a:sym typeface="Play"/>
              </a:rPr>
              <a:t>7.86%</a:t>
            </a:r>
            <a:endParaRPr b="0" i="0" sz="1400" u="none" cap="none" strike="noStrike">
              <a:solidFill>
                <a:schemeClr val="dk1"/>
              </a:solidFill>
              <a:latin typeface="Arial"/>
              <a:ea typeface="Arial"/>
              <a:cs typeface="Arial"/>
              <a:sym typeface="Arial"/>
            </a:endParaRPr>
          </a:p>
        </p:txBody>
      </p:sp>
      <p:sp>
        <p:nvSpPr>
          <p:cNvPr id="324" name="Google Shape;324;p19"/>
          <p:cNvSpPr/>
          <p:nvPr/>
        </p:nvSpPr>
        <p:spPr>
          <a:xfrm>
            <a:off x="7043166" y="4166304"/>
            <a:ext cx="13854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0"/>
              </a:buClr>
              <a:buSzPts val="600"/>
              <a:buFont typeface="Arial"/>
              <a:buNone/>
            </a:pPr>
            <a:r>
              <a:rPr b="0" i="0" lang="en-CA" sz="600" u="none" cap="none" strike="noStrike">
                <a:solidFill>
                  <a:srgbClr val="6B7A90"/>
                </a:solidFill>
                <a:latin typeface="Arial"/>
                <a:ea typeface="Arial"/>
                <a:cs typeface="Arial"/>
                <a:sym typeface="Arial"/>
              </a:rPr>
              <a:t>TinyQwenDraft acceptance</a:t>
            </a:r>
            <a:endParaRPr b="0" i="0" sz="600" u="none" cap="none" strike="noStrike">
              <a:solidFill>
                <a:schemeClr val="dk1"/>
              </a:solidFill>
              <a:latin typeface="Arial"/>
              <a:ea typeface="Arial"/>
              <a:cs typeface="Arial"/>
              <a:sym typeface="Arial"/>
            </a:endParaRPr>
          </a:p>
        </p:txBody>
      </p:sp>
      <p:sp>
        <p:nvSpPr>
          <p:cNvPr id="325" name="Google Shape;325;p19"/>
          <p:cNvSpPr txBox="1"/>
          <p:nvPr>
            <p:ph idx="4294967295" type="sldNum"/>
          </p:nvPr>
        </p:nvSpPr>
        <p:spPr>
          <a:xfrm>
            <a:off x="8545068" y="4917186"/>
            <a:ext cx="240030" cy="109728"/>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CA" sz="600" u="none" cap="none" strike="noStrike">
                <a:solidFill>
                  <a:srgbClr val="6B7A90"/>
                </a:solidFill>
                <a:latin typeface="Arial"/>
                <a:ea typeface="Arial"/>
                <a:cs typeface="Arial"/>
                <a:sym typeface="Arial"/>
              </a:rPr>
              <a:t>‹#›</a:t>
            </a:fld>
            <a:endParaRPr b="0" i="0" sz="600" u="none" cap="none" strike="noStrike">
              <a:solidFill>
                <a:srgbClr val="6B7A9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0"/>
          <p:cNvSpPr/>
          <p:nvPr/>
        </p:nvSpPr>
        <p:spPr>
          <a:xfrm>
            <a:off x="384048" y="192024"/>
            <a:ext cx="826389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900"/>
              <a:buFont typeface="Play"/>
              <a:buNone/>
            </a:pPr>
            <a:r>
              <a:rPr b="1" lang="en-CA" sz="1900">
                <a:solidFill>
                  <a:srgbClr val="102A43"/>
                </a:solidFill>
                <a:latin typeface="Play"/>
                <a:ea typeface="Play"/>
                <a:cs typeface="Play"/>
                <a:sym typeface="Play"/>
              </a:rPr>
              <a:t>Conclusion: reliability and efficiency require different alignment  </a:t>
            </a:r>
            <a:endParaRPr b="0" i="0" sz="1900" u="none" cap="none" strike="noStrike">
              <a:solidFill>
                <a:schemeClr val="dk1"/>
              </a:solidFill>
              <a:latin typeface="Arial"/>
              <a:ea typeface="Arial"/>
              <a:cs typeface="Arial"/>
              <a:sym typeface="Arial"/>
            </a:endParaRPr>
          </a:p>
        </p:txBody>
      </p:sp>
      <p:sp>
        <p:nvSpPr>
          <p:cNvPr id="332" name="Google Shape;332;p20"/>
          <p:cNvSpPr/>
          <p:nvPr/>
        </p:nvSpPr>
        <p:spPr>
          <a:xfrm>
            <a:off x="397764" y="541782"/>
            <a:ext cx="819531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800"/>
              <a:buFont typeface="Arial"/>
              <a:buNone/>
            </a:pPr>
            <a:r>
              <a:rPr lang="en-CA" sz="800">
                <a:solidFill>
                  <a:srgbClr val="6B7A90"/>
                </a:solidFill>
              </a:rPr>
              <a:t>Grounding aligns answers with evidence; speculative decoding aligns draft computation with the target model. </a:t>
            </a:r>
            <a:endParaRPr b="0" i="0" sz="800" u="none" cap="none" strike="noStrike">
              <a:solidFill>
                <a:schemeClr val="dk1"/>
              </a:solidFill>
              <a:latin typeface="Arial"/>
              <a:ea typeface="Arial"/>
              <a:cs typeface="Arial"/>
              <a:sym typeface="Arial"/>
            </a:endParaRPr>
          </a:p>
        </p:txBody>
      </p:sp>
      <p:sp>
        <p:nvSpPr>
          <p:cNvPr id="333" name="Google Shape;333;p20"/>
          <p:cNvSpPr/>
          <p:nvPr/>
        </p:nvSpPr>
        <p:spPr>
          <a:xfrm>
            <a:off x="397764" y="918972"/>
            <a:ext cx="2633472" cy="1049274"/>
          </a:xfrm>
          <a:prstGeom prst="roundRect">
            <a:avLst>
              <a:gd fmla="val 7843" name="adj"/>
            </a:avLst>
          </a:prstGeom>
          <a:solidFill>
            <a:srgbClr val="EAF1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4" name="Google Shape;334;p20"/>
          <p:cNvSpPr/>
          <p:nvPr/>
        </p:nvSpPr>
        <p:spPr>
          <a:xfrm>
            <a:off x="493751" y="1014984"/>
            <a:ext cx="233100" cy="233100"/>
          </a:xfrm>
          <a:prstGeom prst="ellipse">
            <a:avLst/>
          </a:prstGeom>
          <a:solidFill>
            <a:srgbClr val="2F6B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5" name="Google Shape;335;p20"/>
          <p:cNvSpPr/>
          <p:nvPr/>
        </p:nvSpPr>
        <p:spPr>
          <a:xfrm>
            <a:off x="493749" y="1049303"/>
            <a:ext cx="233100" cy="157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CA" sz="1200" u="none" cap="none" strike="noStrike">
                <a:solidFill>
                  <a:srgbClr val="FFFFFF"/>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336" name="Google Shape;336;p20"/>
          <p:cNvSpPr/>
          <p:nvPr/>
        </p:nvSpPr>
        <p:spPr>
          <a:xfrm>
            <a:off x="795628" y="1042464"/>
            <a:ext cx="21396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1700" u="none" cap="none" strike="noStrike">
                <a:solidFill>
                  <a:srgbClr val="102A43"/>
                </a:solidFill>
                <a:latin typeface="Play"/>
                <a:ea typeface="Play"/>
                <a:cs typeface="Play"/>
                <a:sym typeface="Play"/>
              </a:rPr>
              <a:t>Retrieval alignment</a:t>
            </a:r>
            <a:endParaRPr b="0" i="0" sz="1700" u="none" cap="none" strike="noStrike">
              <a:solidFill>
                <a:schemeClr val="dk1"/>
              </a:solidFill>
              <a:latin typeface="Arial"/>
              <a:ea typeface="Arial"/>
              <a:cs typeface="Arial"/>
              <a:sym typeface="Arial"/>
            </a:endParaRPr>
          </a:p>
        </p:txBody>
      </p:sp>
      <p:sp>
        <p:nvSpPr>
          <p:cNvPr id="337" name="Google Shape;337;p20"/>
          <p:cNvSpPr/>
          <p:nvPr/>
        </p:nvSpPr>
        <p:spPr>
          <a:xfrm>
            <a:off x="514350" y="1289304"/>
            <a:ext cx="2400300" cy="596646"/>
          </a:xfrm>
          <a:prstGeom prst="rect">
            <a:avLst/>
          </a:prstGeom>
          <a:noFill/>
          <a:ln>
            <a:noFill/>
          </a:ln>
        </p:spPr>
        <p:txBody>
          <a:bodyPr anchorCtr="0" anchor="ctr" bIns="100" lIns="100" spcFirstLastPara="1" rIns="100" wrap="square" tIns="100">
            <a:noAutofit/>
          </a:bodyPr>
          <a:lstStyle/>
          <a:p>
            <a:pPr indent="0" lvl="0" marL="0" marR="0" rtl="0" algn="l">
              <a:spcBef>
                <a:spcPts val="0"/>
              </a:spcBef>
              <a:spcAft>
                <a:spcPts val="0"/>
              </a:spcAft>
              <a:buClr>
                <a:srgbClr val="1E293B"/>
              </a:buClr>
              <a:buSzPts val="600"/>
              <a:buFont typeface="Arial"/>
              <a:buNone/>
            </a:pPr>
            <a:r>
              <a:rPr lang="en-CA" sz="600">
                <a:solidFill>
                  <a:srgbClr val="1E293B"/>
                </a:solidFill>
              </a:rPr>
              <a:t>External, versioned evidence improves factual coverage and pass rate without changing the Qwen3-4B checkpoint. </a:t>
            </a:r>
            <a:endParaRPr b="0" i="0" sz="600" u="none" cap="none" strike="noStrike">
              <a:solidFill>
                <a:schemeClr val="dk1"/>
              </a:solidFill>
              <a:latin typeface="Arial"/>
              <a:ea typeface="Arial"/>
              <a:cs typeface="Arial"/>
              <a:sym typeface="Arial"/>
            </a:endParaRPr>
          </a:p>
        </p:txBody>
      </p:sp>
      <p:sp>
        <p:nvSpPr>
          <p:cNvPr id="338" name="Google Shape;338;p20"/>
          <p:cNvSpPr/>
          <p:nvPr/>
        </p:nvSpPr>
        <p:spPr>
          <a:xfrm>
            <a:off x="3257550" y="918972"/>
            <a:ext cx="2633472" cy="1049274"/>
          </a:xfrm>
          <a:prstGeom prst="roundRect">
            <a:avLst>
              <a:gd fmla="val 7843" name="adj"/>
            </a:avLst>
          </a:prstGeom>
          <a:solidFill>
            <a:srgbClr val="FFF1E2"/>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9" name="Google Shape;339;p20"/>
          <p:cNvSpPr/>
          <p:nvPr/>
        </p:nvSpPr>
        <p:spPr>
          <a:xfrm>
            <a:off x="3353562" y="1014984"/>
            <a:ext cx="233172" cy="233172"/>
          </a:xfrm>
          <a:prstGeom prst="ellipse">
            <a:avLst/>
          </a:prstGeom>
          <a:solidFill>
            <a:srgbClr val="E98B2A"/>
          </a:solidFill>
          <a:ln cap="flat" cmpd="sng" w="12700">
            <a:solidFill>
              <a:srgbClr val="E98B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0" name="Google Shape;340;p20"/>
          <p:cNvSpPr/>
          <p:nvPr/>
        </p:nvSpPr>
        <p:spPr>
          <a:xfrm>
            <a:off x="3363000" y="1052679"/>
            <a:ext cx="214200" cy="157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CA" sz="1200" u="none" cap="none" strike="noStrike">
                <a:solidFill>
                  <a:srgbClr val="FFFFFF"/>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341" name="Google Shape;341;p20"/>
          <p:cNvSpPr/>
          <p:nvPr/>
        </p:nvSpPr>
        <p:spPr>
          <a:xfrm>
            <a:off x="3655314" y="1042426"/>
            <a:ext cx="21396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1700" u="none" cap="none" strike="noStrike">
                <a:solidFill>
                  <a:srgbClr val="102A43"/>
                </a:solidFill>
                <a:latin typeface="Play"/>
                <a:ea typeface="Play"/>
                <a:cs typeface="Play"/>
                <a:sym typeface="Play"/>
              </a:rPr>
              <a:t>Token alignment</a:t>
            </a:r>
            <a:endParaRPr b="0" i="0" sz="1700" u="none" cap="none" strike="noStrike">
              <a:solidFill>
                <a:schemeClr val="dk1"/>
              </a:solidFill>
              <a:latin typeface="Arial"/>
              <a:ea typeface="Arial"/>
              <a:cs typeface="Arial"/>
              <a:sym typeface="Arial"/>
            </a:endParaRPr>
          </a:p>
        </p:txBody>
      </p:sp>
      <p:sp>
        <p:nvSpPr>
          <p:cNvPr id="342" name="Google Shape;342;p20"/>
          <p:cNvSpPr/>
          <p:nvPr/>
        </p:nvSpPr>
        <p:spPr>
          <a:xfrm>
            <a:off x="3374136" y="1289304"/>
            <a:ext cx="2400300" cy="596646"/>
          </a:xfrm>
          <a:prstGeom prst="rect">
            <a:avLst/>
          </a:prstGeom>
          <a:noFill/>
          <a:ln>
            <a:noFill/>
          </a:ln>
        </p:spPr>
        <p:txBody>
          <a:bodyPr anchorCtr="0" anchor="ctr" bIns="100" lIns="100" spcFirstLastPara="1" rIns="100" wrap="square" tIns="100">
            <a:noAutofit/>
          </a:bodyPr>
          <a:lstStyle/>
          <a:p>
            <a:pPr indent="0" lvl="0" marL="0" marR="0" rtl="0" algn="l">
              <a:spcBef>
                <a:spcPts val="0"/>
              </a:spcBef>
              <a:spcAft>
                <a:spcPts val="0"/>
              </a:spcAft>
              <a:buClr>
                <a:srgbClr val="1E293B"/>
              </a:buClr>
              <a:buSzPts val="600"/>
              <a:buFont typeface="Arial"/>
              <a:buNone/>
            </a:pPr>
            <a:r>
              <a:rPr lang="en-CA" sz="600">
                <a:solidFill>
                  <a:srgbClr val="1E293B"/>
                </a:solidFill>
              </a:rPr>
              <a:t>A useful draft model must predict the target’s next tokens accurately. Being smaller or cheaper is not enough. </a:t>
            </a:r>
            <a:endParaRPr b="0" i="0" sz="600" u="none" cap="none" strike="noStrike">
              <a:solidFill>
                <a:schemeClr val="dk1"/>
              </a:solidFill>
              <a:latin typeface="Arial"/>
              <a:ea typeface="Arial"/>
              <a:cs typeface="Arial"/>
              <a:sym typeface="Arial"/>
            </a:endParaRPr>
          </a:p>
        </p:txBody>
      </p:sp>
      <p:sp>
        <p:nvSpPr>
          <p:cNvPr id="343" name="Google Shape;343;p20"/>
          <p:cNvSpPr/>
          <p:nvPr/>
        </p:nvSpPr>
        <p:spPr>
          <a:xfrm>
            <a:off x="6117336" y="918972"/>
            <a:ext cx="2619756" cy="1049274"/>
          </a:xfrm>
          <a:prstGeom prst="roundRect">
            <a:avLst>
              <a:gd fmla="val 7843" name="adj"/>
            </a:avLst>
          </a:prstGeom>
          <a:solidFill>
            <a:srgbClr val="F0EC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4" name="Google Shape;344;p20"/>
          <p:cNvSpPr/>
          <p:nvPr/>
        </p:nvSpPr>
        <p:spPr>
          <a:xfrm>
            <a:off x="6213348" y="1014984"/>
            <a:ext cx="233172" cy="233172"/>
          </a:xfrm>
          <a:prstGeom prst="ellipse">
            <a:avLst/>
          </a:prstGeom>
          <a:solidFill>
            <a:srgbClr val="7657D5"/>
          </a:solidFill>
          <a:ln cap="flat" cmpd="sng" w="12700">
            <a:solidFill>
              <a:srgbClr val="7657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5" name="Google Shape;345;p20"/>
          <p:cNvSpPr/>
          <p:nvPr/>
        </p:nvSpPr>
        <p:spPr>
          <a:xfrm>
            <a:off x="6213348" y="1090436"/>
            <a:ext cx="233100" cy="82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CA" sz="1200" u="none" cap="none" strike="noStrike">
                <a:solidFill>
                  <a:srgbClr val="FFFFFF"/>
                </a:solidFill>
                <a:latin typeface="Arial"/>
                <a:ea typeface="Arial"/>
                <a:cs typeface="Arial"/>
                <a:sym typeface="Arial"/>
              </a:rPr>
              <a:t>3</a:t>
            </a:r>
            <a:endParaRPr b="0" i="0" sz="1200" u="none" cap="none" strike="noStrike">
              <a:solidFill>
                <a:schemeClr val="dk1"/>
              </a:solidFill>
              <a:latin typeface="Arial"/>
              <a:ea typeface="Arial"/>
              <a:cs typeface="Arial"/>
              <a:sym typeface="Arial"/>
            </a:endParaRPr>
          </a:p>
        </p:txBody>
      </p:sp>
      <p:sp>
        <p:nvSpPr>
          <p:cNvPr id="346" name="Google Shape;346;p20"/>
          <p:cNvSpPr/>
          <p:nvPr/>
        </p:nvSpPr>
        <p:spPr>
          <a:xfrm>
            <a:off x="6515025" y="1042426"/>
            <a:ext cx="21261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Play"/>
              <a:buNone/>
            </a:pPr>
            <a:r>
              <a:rPr b="1" i="0" lang="en-CA" sz="1700" u="none" cap="none" strike="noStrike">
                <a:solidFill>
                  <a:srgbClr val="102A43"/>
                </a:solidFill>
                <a:latin typeface="Play"/>
                <a:ea typeface="Play"/>
                <a:cs typeface="Play"/>
                <a:sym typeface="Play"/>
              </a:rPr>
              <a:t>Systems alignment</a:t>
            </a:r>
            <a:endParaRPr b="0" i="0" sz="1700" u="none" cap="none" strike="noStrike">
              <a:solidFill>
                <a:schemeClr val="dk1"/>
              </a:solidFill>
              <a:latin typeface="Arial"/>
              <a:ea typeface="Arial"/>
              <a:cs typeface="Arial"/>
              <a:sym typeface="Arial"/>
            </a:endParaRPr>
          </a:p>
        </p:txBody>
      </p:sp>
      <p:sp>
        <p:nvSpPr>
          <p:cNvPr id="347" name="Google Shape;347;p20"/>
          <p:cNvSpPr/>
          <p:nvPr/>
        </p:nvSpPr>
        <p:spPr>
          <a:xfrm>
            <a:off x="6233922" y="1289304"/>
            <a:ext cx="2386584" cy="596646"/>
          </a:xfrm>
          <a:prstGeom prst="rect">
            <a:avLst/>
          </a:prstGeom>
          <a:noFill/>
          <a:ln>
            <a:noFill/>
          </a:ln>
        </p:spPr>
        <p:txBody>
          <a:bodyPr anchorCtr="0" anchor="ctr" bIns="100" lIns="100" spcFirstLastPara="1" rIns="100" wrap="square" tIns="100">
            <a:noAutofit/>
          </a:bodyPr>
          <a:lstStyle/>
          <a:p>
            <a:pPr indent="0" lvl="0" marL="0" marR="0" rtl="0" algn="l">
              <a:spcBef>
                <a:spcPts val="0"/>
              </a:spcBef>
              <a:spcAft>
                <a:spcPts val="0"/>
              </a:spcAft>
              <a:buClr>
                <a:srgbClr val="1E293B"/>
              </a:buClr>
              <a:buSzPts val="600"/>
              <a:buFont typeface="Arial"/>
              <a:buNone/>
            </a:pPr>
            <a:r>
              <a:rPr lang="en-CA" sz="600">
                <a:solidFill>
                  <a:srgbClr val="1E293B"/>
                </a:solidFill>
              </a:rPr>
              <a:t>Practical speedup requires high acceptance, low draft cost, efficient verification, and the right workload and hardware. </a:t>
            </a:r>
            <a:endParaRPr sz="600">
              <a:solidFill>
                <a:srgbClr val="1E293B"/>
              </a:solidFill>
            </a:endParaRPr>
          </a:p>
          <a:p>
            <a:pPr indent="0" lvl="0" marL="0" marR="0" rtl="0" algn="l">
              <a:spcBef>
                <a:spcPts val="0"/>
              </a:spcBef>
              <a:spcAft>
                <a:spcPts val="0"/>
              </a:spcAft>
              <a:buClr>
                <a:srgbClr val="1E293B"/>
              </a:buClr>
              <a:buSzPts val="600"/>
              <a:buFont typeface="Arial"/>
              <a:buNone/>
            </a:pPr>
            <a:r>
              <a:t/>
            </a:r>
            <a:endParaRPr sz="600">
              <a:solidFill>
                <a:srgbClr val="1E293B"/>
              </a:solidFill>
            </a:endParaRPr>
          </a:p>
          <a:p>
            <a:pPr indent="0" lvl="0" marL="0" marR="0" rtl="0" algn="l">
              <a:spcBef>
                <a:spcPts val="0"/>
              </a:spcBef>
              <a:spcAft>
                <a:spcPts val="0"/>
              </a:spcAft>
              <a:buClr>
                <a:srgbClr val="1E293B"/>
              </a:buClr>
              <a:buSzPts val="600"/>
              <a:buFont typeface="Arial"/>
              <a:buNone/>
            </a:pPr>
            <a:r>
              <a:rPr lang="en-CA" sz="600">
                <a:solidFill>
                  <a:srgbClr val="1E293B"/>
                </a:solidFill>
              </a:rPr>
              <a:t>Saved target computation must exceed the speculative-decoding overhead. </a:t>
            </a:r>
            <a:endParaRPr sz="600">
              <a:solidFill>
                <a:srgbClr val="1E293B"/>
              </a:solidFill>
            </a:endParaRPr>
          </a:p>
        </p:txBody>
      </p:sp>
      <p:sp>
        <p:nvSpPr>
          <p:cNvPr id="348" name="Google Shape;348;p20"/>
          <p:cNvSpPr/>
          <p:nvPr/>
        </p:nvSpPr>
        <p:spPr>
          <a:xfrm>
            <a:off x="397775" y="2180850"/>
            <a:ext cx="8147400" cy="1221600"/>
          </a:xfrm>
          <a:prstGeom prst="roundRect">
            <a:avLst>
              <a:gd fmla="val 4494"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9" name="Google Shape;349;p20"/>
          <p:cNvSpPr/>
          <p:nvPr/>
        </p:nvSpPr>
        <p:spPr>
          <a:xfrm>
            <a:off x="576075" y="2273350"/>
            <a:ext cx="17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600"/>
              <a:buFont typeface="Arial"/>
              <a:buNone/>
            </a:pPr>
            <a:r>
              <a:rPr b="1" lang="en-CA">
                <a:solidFill>
                  <a:srgbClr val="102A43"/>
                </a:solidFill>
              </a:rPr>
              <a:t>Final takeaway  </a:t>
            </a:r>
            <a:endParaRPr b="0" i="0" u="none" cap="none" strike="noStrike">
              <a:solidFill>
                <a:schemeClr val="dk1"/>
              </a:solidFill>
              <a:latin typeface="Arial"/>
              <a:ea typeface="Arial"/>
              <a:cs typeface="Arial"/>
              <a:sym typeface="Arial"/>
            </a:endParaRPr>
          </a:p>
        </p:txBody>
      </p:sp>
      <p:sp>
        <p:nvSpPr>
          <p:cNvPr id="350" name="Google Shape;350;p20"/>
          <p:cNvSpPr/>
          <p:nvPr/>
        </p:nvSpPr>
        <p:spPr>
          <a:xfrm>
            <a:off x="531435" y="2657587"/>
            <a:ext cx="157800" cy="157800"/>
          </a:xfrm>
          <a:prstGeom prst="ellipse">
            <a:avLst/>
          </a:prstGeom>
          <a:solidFill>
            <a:srgbClr val="2F6BFF"/>
          </a:solidFill>
          <a:ln cap="flat" cmpd="sng" w="12700">
            <a:solidFill>
              <a:srgbClr val="2F6B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1" name="Google Shape;351;p20"/>
          <p:cNvSpPr/>
          <p:nvPr/>
        </p:nvSpPr>
        <p:spPr>
          <a:xfrm>
            <a:off x="833725" y="2667750"/>
            <a:ext cx="6875400" cy="66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700"/>
              <a:buFont typeface="Arial"/>
              <a:buNone/>
            </a:pPr>
            <a:r>
              <a:rPr b="1" lang="en-CA" sz="1100">
                <a:solidFill>
                  <a:schemeClr val="dk1"/>
                </a:solidFill>
              </a:rPr>
              <a:t>Better evidence substantially improved Qwen3-4B reliability. </a:t>
            </a:r>
            <a:br>
              <a:rPr b="1" lang="en-CA" sz="1100">
                <a:solidFill>
                  <a:schemeClr val="dk1"/>
                </a:solidFill>
              </a:rPr>
            </a:br>
            <a:br>
              <a:rPr b="1" lang="en-CA" sz="1100">
                <a:solidFill>
                  <a:schemeClr val="dk1"/>
                </a:solidFill>
              </a:rPr>
            </a:br>
            <a:r>
              <a:rPr b="1" lang="en-CA" sz="1100">
                <a:solidFill>
                  <a:schemeClr val="dk1"/>
                </a:solidFill>
              </a:rPr>
              <a:t>But acceleration required more than a smaller draft: high target-token acceptance and low verification overhead were both necessary. </a:t>
            </a:r>
            <a:endParaRPr b="0" i="0" sz="700" u="none" cap="none" strike="noStrike">
              <a:solidFill>
                <a:schemeClr val="dk1"/>
              </a:solidFill>
              <a:latin typeface="Arial"/>
              <a:ea typeface="Arial"/>
              <a:cs typeface="Arial"/>
              <a:sym typeface="Arial"/>
            </a:endParaRPr>
          </a:p>
        </p:txBody>
      </p:sp>
      <p:sp>
        <p:nvSpPr>
          <p:cNvPr id="352" name="Google Shape;352;p20"/>
          <p:cNvSpPr txBox="1"/>
          <p:nvPr>
            <p:ph idx="4294967295" type="sldNum"/>
          </p:nvPr>
        </p:nvSpPr>
        <p:spPr>
          <a:xfrm>
            <a:off x="8545068" y="4917186"/>
            <a:ext cx="240030" cy="109728"/>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CA" sz="600" u="none" cap="none" strike="noStrike">
                <a:solidFill>
                  <a:srgbClr val="6B7A90"/>
                </a:solidFill>
                <a:latin typeface="Arial"/>
                <a:ea typeface="Arial"/>
                <a:cs typeface="Arial"/>
                <a:sym typeface="Arial"/>
              </a:rPr>
              <a:t>‹#›</a:t>
            </a:fld>
            <a:endParaRPr b="0" i="0" sz="600" u="none" cap="none" strike="noStrike">
              <a:solidFill>
                <a:srgbClr val="6B7A90"/>
              </a:solidFill>
              <a:latin typeface="Arial"/>
              <a:ea typeface="Arial"/>
              <a:cs typeface="Arial"/>
              <a:sym typeface="Arial"/>
            </a:endParaRPr>
          </a:p>
        </p:txBody>
      </p:sp>
      <p:sp>
        <p:nvSpPr>
          <p:cNvPr id="353" name="Google Shape;353;p20"/>
          <p:cNvSpPr/>
          <p:nvPr/>
        </p:nvSpPr>
        <p:spPr>
          <a:xfrm>
            <a:off x="384050" y="3504650"/>
            <a:ext cx="8147400" cy="1221600"/>
          </a:xfrm>
          <a:prstGeom prst="roundRect">
            <a:avLst>
              <a:gd fmla="val 4494" name="adj"/>
            </a:avLst>
          </a:prstGeom>
          <a:solidFill>
            <a:srgbClr val="FFFFFF"/>
          </a:solidFill>
          <a:ln cap="flat" cmpd="sng" w="12700">
            <a:solidFill>
              <a:srgbClr val="D7DF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4" name="Google Shape;354;p20"/>
          <p:cNvSpPr/>
          <p:nvPr/>
        </p:nvSpPr>
        <p:spPr>
          <a:xfrm>
            <a:off x="542625" y="3607300"/>
            <a:ext cx="34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600"/>
              <a:buFont typeface="Arial"/>
              <a:buNone/>
            </a:pPr>
            <a:r>
              <a:rPr b="1" lang="en-CA">
                <a:solidFill>
                  <a:srgbClr val="102A43"/>
                </a:solidFill>
              </a:rPr>
              <a:t>Possible Improvement / Future Work </a:t>
            </a:r>
            <a:r>
              <a:rPr b="1" lang="en-CA">
                <a:solidFill>
                  <a:srgbClr val="102A43"/>
                </a:solidFill>
              </a:rPr>
              <a:t> </a:t>
            </a:r>
            <a:endParaRPr b="0" i="0" u="none" cap="none" strike="noStrike">
              <a:solidFill>
                <a:schemeClr val="dk1"/>
              </a:solidFill>
              <a:latin typeface="Arial"/>
              <a:ea typeface="Arial"/>
              <a:cs typeface="Arial"/>
              <a:sym typeface="Arial"/>
            </a:endParaRPr>
          </a:p>
        </p:txBody>
      </p:sp>
      <p:sp>
        <p:nvSpPr>
          <p:cNvPr id="355" name="Google Shape;355;p20"/>
          <p:cNvSpPr/>
          <p:nvPr/>
        </p:nvSpPr>
        <p:spPr>
          <a:xfrm>
            <a:off x="833725" y="3889175"/>
            <a:ext cx="6875400" cy="6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CA" sz="1100">
                <a:solidFill>
                  <a:schemeClr val="dk1"/>
                </a:solidFill>
              </a:rPr>
              <a:t>Evaluate speculative decoding on larger target models (e.g., 70B–200B).</a:t>
            </a:r>
            <a:endParaRPr b="1" sz="1100">
              <a:solidFill>
                <a:schemeClr val="dk1"/>
              </a:solidFill>
            </a:endParaRPr>
          </a:p>
          <a:p>
            <a:pPr indent="0" lvl="0" marL="0" marR="0" rtl="0" algn="l">
              <a:spcBef>
                <a:spcPts val="0"/>
              </a:spcBef>
              <a:spcAft>
                <a:spcPts val="0"/>
              </a:spcAft>
              <a:buClr>
                <a:srgbClr val="102A43"/>
              </a:buClr>
              <a:buSzPts val="700"/>
              <a:buFont typeface="Arial"/>
              <a:buNone/>
            </a:pPr>
            <a:r>
              <a:rPr lang="en-CA" sz="1100">
                <a:solidFill>
                  <a:schemeClr val="dk1"/>
                </a:solidFill>
              </a:rPr>
              <a:t>More expensive target decoding may provide greater opportunity to offset draft and verification overhead. We leave this regime for future work.  </a:t>
            </a:r>
            <a:endParaRPr b="1" sz="1100">
              <a:solidFill>
                <a:schemeClr val="dk1"/>
              </a:solidFill>
            </a:endParaRPr>
          </a:p>
        </p:txBody>
      </p:sp>
      <p:sp>
        <p:nvSpPr>
          <p:cNvPr id="356" name="Google Shape;356;p20"/>
          <p:cNvSpPr/>
          <p:nvPr/>
        </p:nvSpPr>
        <p:spPr>
          <a:xfrm>
            <a:off x="531422" y="3964562"/>
            <a:ext cx="157800" cy="157800"/>
          </a:xfrm>
          <a:prstGeom prst="ellipse">
            <a:avLst/>
          </a:prstGeom>
          <a:solidFill>
            <a:srgbClr val="FF0000"/>
          </a:solidFill>
          <a:ln cap="flat" cmpd="sng" w="12700">
            <a:solidFill>
              <a:srgbClr val="FF000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